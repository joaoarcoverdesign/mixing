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UqxGjnTiqD0NewNdAOVjXQXqN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Usuarios (aprox., en millones)</c:v>
                </c:pt>
              </c:strCache>
            </c:strRef>
          </c:tx>
          <c:spPr>
            <a:solidFill>
              <a:srgbClr val="F26522"/>
            </a:solidFill>
            <a:effectLst/>
          </c:spPr>
          <c:invertIfNegative val="0"/>
          <c:dLbls>
            <c:numFmt formatCode="0.0&quot;M&quot;" sourceLinked="0"/>
            <c:txPr>
              <a:bodyPr/>
              <a:lstStyle/>
              <a:p>
                <a:pPr>
                  <a:defRPr b="0" i="0" strike="noStrike" sz="1100" u="none">
                    <a:solidFill>
                      <a:srgbClr val="2E313D"/>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2014</c:v>
                  </c:pt>
                  <c:pt idx="1">
                    <c:v>2015</c:v>
                  </c:pt>
                  <c:pt idx="2">
                    <c:v>2016</c:v>
                  </c:pt>
                  <c:pt idx="3">
                    <c:v>2017</c:v>
                  </c:pt>
                  <c:pt idx="4">
                    <c:v>2018</c:v>
                  </c:pt>
                  <c:pt idx="5">
                    <c:v>2019</c:v>
                  </c:pt>
                </c:lvl>
              </c:multiLvlStrCache>
            </c:multiLvlStrRef>
          </c:cat>
          <c:val>
            <c:numRef>
              <c:f>Sheet1!$B$2:$B$7</c:f>
              <c:numCache>
                <c:formatCode>General</c:formatCode>
                <c:ptCount val="6"/>
                <c:pt idx="0">
                  <c:v>0.6</c:v>
                </c:pt>
                <c:pt idx="1">
                  <c:v>1.4</c:v>
                </c:pt>
                <c:pt idx="2">
                  <c:v>2.6</c:v>
                </c:pt>
                <c:pt idx="3">
                  <c:v>3.75</c:v>
                </c:pt>
                <c:pt idx="4">
                  <c:v>6.5</c:v>
                </c:pt>
                <c:pt idx="5">
                  <c:v>10</c:v>
                </c:pt>
              </c:numCache>
            </c:numRef>
          </c:val>
        </c:ser>
        <c:dLbls>
          <c:numFmt formatCode="0.0&quot;M&quot;" sourceLinked="0"/>
          <c:txPr>
            <a:bodyPr/>
            <a:lstStyle/>
            <a:p>
              <a:pPr>
                <a:defRPr b="0" i="0" strike="noStrike" sz="1100" u="none">
                  <a:solidFill>
                    <a:srgbClr val="2E3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EDCD5"/>
            </a:solidFill>
            <a:prstDash val="solid"/>
            <a:round/>
          </a:ln>
        </c:spPr>
        <c:txPr>
          <a:bodyPr/>
          <a:lstStyle/>
          <a:p>
            <a:pPr>
              <a:defRPr sz="1100" b="0" i="0" u="none" strike="noStrike">
                <a:solidFill>
                  <a:srgbClr val="70737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6F3"/>
        </a:solidFill>
        <a:ln>
          <a:noFill/>
        </a:ln>
        <a:effectLst/>
      </c:spPr>
    </c:plotArea>
    <c:plotVisOnly val="1"/>
    <c:dispBlanksAs val="span"/>
  </c:chart>
  <c:spPr>
    <a:solidFill>
      <a:srgbClr val="F7F6F3"/>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RECORDATORIO: Decir explicitamente que YO decidi priorizar este rediseno porque los tickets de soporte mostraban volumen alto de quejas sobre busqueda de preguntas. Conectar el dato con mi criterio de diseno, no solo describir el proceso.</a:t>
            </a:r>
            <a:endParaRPr/>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RECORDATORIO: Explicar que elegi cascada en vez de busqueda libre porque reducia el error de busqueda y el tiempo de encontrar la pregunta. Conectar directo con el numero del 60% de reduccion de tiempo (slide de impacto en el usuario), no dejar esa conexion implicita.</a:t>
            </a:r>
            <a:endParaRPr/>
          </a:p>
        </p:txBody>
      </p:sp>
      <p:sp>
        <p:nvSpPr>
          <p:cNvPr id="108" name="Google Shape;1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RECORDATORIO: Antes de revelar el valor de la adquisicion, hacer el puente: 'este tipo de decision, a lo largo de cinco anos, ayudo a transformar la plataforma de herramienta funcional a producto maduro'. Sin esa frase el salto hasta los R$208 millones queda demasiado grande.</a:t>
            </a:r>
            <a:endParaRPr/>
          </a:p>
        </p:txBody>
      </p:sp>
      <p:sp>
        <p:nvSpPr>
          <p:cNvPr id="206" name="Google Shape;2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85bb4165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f85bb4165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RECORDATORIO: Decir explicitamente que YO decidi priorizar este rediseno porque los tickets de soporte mostraban volumen alto de quejas sobre busqueda de preguntas. Conectar el dato con mi criterio de diseno, no solo describir el proceso.</a:t>
            </a:r>
            <a:endParaRPr/>
          </a:p>
        </p:txBody>
      </p:sp>
      <p:sp>
        <p:nvSpPr>
          <p:cNvPr id="283" name="Google Shape;283;g3f85bb4165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85bb4165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f85bb41658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3f85bb41658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85bb41658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f85bb41658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3f85bb41658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85b79a255_3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f85b79a255_3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f85b79a255_3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15" name="Shape 15"/>
        <p:cNvGrpSpPr/>
        <p:nvPr/>
      </p:nvGrpSpPr>
      <p:grpSpPr>
        <a:xfrm>
          <a:off x="0" y="0"/>
          <a:ext cx="0" cy="0"/>
          <a:chOff x="0" y="0"/>
          <a:chExt cx="0" cy="0"/>
        </a:xfrm>
      </p:grpSpPr>
      <p:sp>
        <p:nvSpPr>
          <p:cNvPr id="16" name="Google Shape;16;p1"/>
          <p:cNvSpPr/>
          <p:nvPr/>
        </p:nvSpPr>
        <p:spPr>
          <a:xfrm>
            <a:off x="640080" y="9144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CASE STUDY · PRODUCT DESIGN</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640080" y="1325880"/>
            <a:ext cx="1088136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De 600 mil a 10 millones de usuarios</a:t>
            </a:r>
            <a:endParaRPr b="0" i="0" sz="4600" u="none" cap="none" strike="noStrike">
              <a:solidFill>
                <a:schemeClr val="dk1"/>
              </a:solidFill>
              <a:latin typeface="Calibri"/>
              <a:ea typeface="Calibri"/>
              <a:cs typeface="Calibri"/>
              <a:sym typeface="Calibri"/>
            </a:endParaRPr>
          </a:p>
        </p:txBody>
      </p:sp>
      <p:sp>
        <p:nvSpPr>
          <p:cNvPr id="18" name="Google Shape;18;p1"/>
          <p:cNvSpPr/>
          <p:nvPr/>
        </p:nvSpPr>
        <p:spPr>
          <a:xfrm>
            <a:off x="640075" y="2514600"/>
            <a:ext cx="3894600" cy="17181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A9ABC0"/>
              </a:buClr>
              <a:buSzPts val="1800"/>
              <a:buFont typeface="Calibri"/>
              <a:buNone/>
            </a:pPr>
            <a:r>
              <a:rPr b="0" i="0" lang="en-US" sz="1800" u="none" cap="none" strike="noStrike">
                <a:solidFill>
                  <a:srgbClr val="A9ABC0"/>
                </a:solidFill>
                <a:latin typeface="Calibri"/>
                <a:ea typeface="Calibri"/>
                <a:cs typeface="Calibri"/>
                <a:sym typeface="Calibri"/>
              </a:rPr>
              <a:t>Cómo decisiones de diseño apoyaron el crecimiento de QConcursos y su adquisición por el Grupo Yduqs por R$208 millones</a:t>
            </a:r>
            <a:endParaRPr b="0" i="0" sz="1800" u="none" cap="none" strike="noStrike">
              <a:solidFill>
                <a:schemeClr val="dk1"/>
              </a:solidFill>
              <a:latin typeface="Calibri"/>
              <a:ea typeface="Calibri"/>
              <a:cs typeface="Calibri"/>
              <a:sym typeface="Calibri"/>
            </a:endParaRPr>
          </a:p>
        </p:txBody>
      </p:sp>
      <p:cxnSp>
        <p:nvCxnSpPr>
          <p:cNvPr id="19" name="Google Shape;19;p1"/>
          <p:cNvCxnSpPr/>
          <p:nvPr/>
        </p:nvCxnSpPr>
        <p:spPr>
          <a:xfrm>
            <a:off x="640080" y="5532120"/>
            <a:ext cx="10881360" cy="0"/>
          </a:xfrm>
          <a:prstGeom prst="straightConnector1">
            <a:avLst/>
          </a:prstGeom>
          <a:noFill/>
          <a:ln cap="flat" cmpd="sng" w="12700">
            <a:solidFill>
              <a:srgbClr val="3A3A52"/>
            </a:solidFill>
            <a:prstDash val="solid"/>
            <a:round/>
            <a:headEnd len="sm" w="sm" type="none"/>
            <a:tailEnd len="sm" w="sm" type="none"/>
          </a:ln>
        </p:spPr>
      </p:cxnSp>
      <p:sp>
        <p:nvSpPr>
          <p:cNvPr id="20" name="Google Shape;20;p1"/>
          <p:cNvSpPr/>
          <p:nvPr/>
        </p:nvSpPr>
        <p:spPr>
          <a:xfrm>
            <a:off x="640080" y="5760720"/>
            <a:ext cx="24460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00"/>
              <a:buFont typeface="Calibri"/>
              <a:buNone/>
            </a:pPr>
            <a:r>
              <a:rPr b="1" i="0" lang="en-US" sz="1000" u="none" cap="none" strike="noStrike">
                <a:solidFill>
                  <a:srgbClr val="F26522"/>
                </a:solidFill>
                <a:latin typeface="Calibri"/>
                <a:ea typeface="Calibri"/>
                <a:cs typeface="Calibri"/>
                <a:sym typeface="Calibri"/>
              </a:rPr>
              <a:t>CLIENTE</a:t>
            </a:r>
            <a:endParaRPr b="0" i="0" sz="1000" u="none" cap="none" strike="noStrike">
              <a:solidFill>
                <a:schemeClr val="dk1"/>
              </a:solidFill>
              <a:latin typeface="Calibri"/>
              <a:ea typeface="Calibri"/>
              <a:cs typeface="Calibri"/>
              <a:sym typeface="Calibri"/>
            </a:endParaRPr>
          </a:p>
        </p:txBody>
      </p:sp>
      <p:sp>
        <p:nvSpPr>
          <p:cNvPr id="21" name="Google Shape;21;p1"/>
          <p:cNvSpPr/>
          <p:nvPr/>
        </p:nvSpPr>
        <p:spPr>
          <a:xfrm>
            <a:off x="640080" y="6035040"/>
            <a:ext cx="24460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QConcursos.com</a:t>
            </a:r>
            <a:endParaRPr b="0" i="0" sz="1400" u="none" cap="none" strike="noStrike">
              <a:solidFill>
                <a:schemeClr val="dk1"/>
              </a:solidFill>
              <a:latin typeface="Calibri"/>
              <a:ea typeface="Calibri"/>
              <a:cs typeface="Calibri"/>
              <a:sym typeface="Calibri"/>
            </a:endParaRPr>
          </a:p>
        </p:txBody>
      </p:sp>
      <p:sp>
        <p:nvSpPr>
          <p:cNvPr id="22" name="Google Shape;22;p1"/>
          <p:cNvSpPr/>
          <p:nvPr/>
        </p:nvSpPr>
        <p:spPr>
          <a:xfrm>
            <a:off x="3360420" y="5760720"/>
            <a:ext cx="24460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00"/>
              <a:buFont typeface="Calibri"/>
              <a:buNone/>
            </a:pPr>
            <a:r>
              <a:rPr b="1" i="0" lang="en-US" sz="1000" u="none" cap="none" strike="noStrike">
                <a:solidFill>
                  <a:srgbClr val="F26522"/>
                </a:solidFill>
                <a:latin typeface="Calibri"/>
                <a:ea typeface="Calibri"/>
                <a:cs typeface="Calibri"/>
                <a:sym typeface="Calibri"/>
              </a:rPr>
              <a:t>ROL</a:t>
            </a:r>
            <a:endParaRPr b="0" i="0" sz="1000" u="none" cap="none" strike="noStrike">
              <a:solidFill>
                <a:schemeClr val="dk1"/>
              </a:solidFill>
              <a:latin typeface="Calibri"/>
              <a:ea typeface="Calibri"/>
              <a:cs typeface="Calibri"/>
              <a:sym typeface="Calibri"/>
            </a:endParaRPr>
          </a:p>
        </p:txBody>
      </p:sp>
      <p:sp>
        <p:nvSpPr>
          <p:cNvPr id="23" name="Google Shape;23;p1"/>
          <p:cNvSpPr/>
          <p:nvPr/>
        </p:nvSpPr>
        <p:spPr>
          <a:xfrm>
            <a:off x="3360420" y="6035040"/>
            <a:ext cx="24460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UX/UI Designer</a:t>
            </a:r>
            <a:endParaRPr b="0" i="0" sz="1400" u="none" cap="none" strike="noStrike">
              <a:solidFill>
                <a:schemeClr val="dk1"/>
              </a:solidFill>
              <a:latin typeface="Calibri"/>
              <a:ea typeface="Calibri"/>
              <a:cs typeface="Calibri"/>
              <a:sym typeface="Calibri"/>
            </a:endParaRPr>
          </a:p>
        </p:txBody>
      </p:sp>
      <p:sp>
        <p:nvSpPr>
          <p:cNvPr id="24" name="Google Shape;24;p1"/>
          <p:cNvSpPr/>
          <p:nvPr/>
        </p:nvSpPr>
        <p:spPr>
          <a:xfrm>
            <a:off x="6080760" y="5760720"/>
            <a:ext cx="24460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00"/>
              <a:buFont typeface="Calibri"/>
              <a:buNone/>
            </a:pPr>
            <a:r>
              <a:rPr b="1" i="0" lang="en-US" sz="1000" u="none" cap="none" strike="noStrike">
                <a:solidFill>
                  <a:srgbClr val="F26522"/>
                </a:solidFill>
                <a:latin typeface="Calibri"/>
                <a:ea typeface="Calibri"/>
                <a:cs typeface="Calibri"/>
                <a:sym typeface="Calibri"/>
              </a:rPr>
              <a:t>PERÍODO</a:t>
            </a:r>
            <a:endParaRPr b="0" i="0" sz="1000" u="none" cap="none" strike="noStrike">
              <a:solidFill>
                <a:schemeClr val="dk1"/>
              </a:solidFill>
              <a:latin typeface="Calibri"/>
              <a:ea typeface="Calibri"/>
              <a:cs typeface="Calibri"/>
              <a:sym typeface="Calibri"/>
            </a:endParaRPr>
          </a:p>
        </p:txBody>
      </p:sp>
      <p:sp>
        <p:nvSpPr>
          <p:cNvPr id="25" name="Google Shape;25;p1"/>
          <p:cNvSpPr/>
          <p:nvPr/>
        </p:nvSpPr>
        <p:spPr>
          <a:xfrm>
            <a:off x="6080760" y="6035040"/>
            <a:ext cx="24460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2014 – 2019</a:t>
            </a:r>
            <a:endParaRPr b="0" i="0" sz="1400" u="none" cap="none" strike="noStrike">
              <a:solidFill>
                <a:schemeClr val="dk1"/>
              </a:solidFill>
              <a:latin typeface="Calibri"/>
              <a:ea typeface="Calibri"/>
              <a:cs typeface="Calibri"/>
              <a:sym typeface="Calibri"/>
            </a:endParaRPr>
          </a:p>
        </p:txBody>
      </p:sp>
      <p:sp>
        <p:nvSpPr>
          <p:cNvPr id="26" name="Google Shape;26;p1"/>
          <p:cNvSpPr/>
          <p:nvPr/>
        </p:nvSpPr>
        <p:spPr>
          <a:xfrm>
            <a:off x="8801100" y="5760720"/>
            <a:ext cx="24460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00"/>
              <a:buFont typeface="Calibri"/>
              <a:buNone/>
            </a:pPr>
            <a:r>
              <a:rPr b="1" i="0" lang="en-US" sz="1000" u="none" cap="none" strike="noStrike">
                <a:solidFill>
                  <a:srgbClr val="F26522"/>
                </a:solidFill>
                <a:latin typeface="Calibri"/>
                <a:ea typeface="Calibri"/>
                <a:cs typeface="Calibri"/>
                <a:sym typeface="Calibri"/>
              </a:rPr>
              <a:t>ESCALA</a:t>
            </a:r>
            <a:endParaRPr b="0" i="0" sz="1000" u="none" cap="none" strike="noStrike">
              <a:solidFill>
                <a:schemeClr val="dk1"/>
              </a:solidFill>
              <a:latin typeface="Calibri"/>
              <a:ea typeface="Calibri"/>
              <a:cs typeface="Calibri"/>
              <a:sym typeface="Calibri"/>
            </a:endParaRPr>
          </a:p>
        </p:txBody>
      </p:sp>
      <p:sp>
        <p:nvSpPr>
          <p:cNvPr id="27" name="Google Shape;27;p1"/>
          <p:cNvSpPr/>
          <p:nvPr/>
        </p:nvSpPr>
        <p:spPr>
          <a:xfrm>
            <a:off x="8801100" y="6035040"/>
            <a:ext cx="24460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600k → 10M+ usuarios</a:t>
            </a:r>
            <a:endParaRPr b="0" i="0" sz="1400" u="none" cap="none" strike="noStrike">
              <a:solidFill>
                <a:schemeClr val="dk1"/>
              </a:solidFill>
              <a:latin typeface="Calibri"/>
              <a:ea typeface="Calibri"/>
              <a:cs typeface="Calibri"/>
              <a:sym typeface="Calibri"/>
            </a:endParaRPr>
          </a:p>
        </p:txBody>
      </p:sp>
      <p:pic>
        <p:nvPicPr>
          <p:cNvPr id="28" name="Google Shape;28;p1" title="banner.png"/>
          <p:cNvPicPr preferRelativeResize="0"/>
          <p:nvPr/>
        </p:nvPicPr>
        <p:blipFill rotWithShape="1">
          <a:blip r:embed="rId3">
            <a:alphaModFix/>
          </a:blip>
          <a:srcRect b="0" l="0" r="0" t="0"/>
          <a:stretch/>
        </p:blipFill>
        <p:spPr>
          <a:xfrm>
            <a:off x="4586325" y="2045963"/>
            <a:ext cx="7696200" cy="3486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33" name="Shape 33"/>
        <p:cNvGrpSpPr/>
        <p:nvPr/>
      </p:nvGrpSpPr>
      <p:grpSpPr>
        <a:xfrm>
          <a:off x="0" y="0"/>
          <a:ext cx="0" cy="0"/>
          <a:chOff x="0" y="0"/>
          <a:chExt cx="0" cy="0"/>
        </a:xfrm>
      </p:grpSpPr>
      <p:sp>
        <p:nvSpPr>
          <p:cNvPr id="34" name="Google Shape;34;p2"/>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01 · CONTEXTO</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640080" y="777240"/>
            <a:ext cx="73152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El Negocio</a:t>
            </a:r>
            <a:endParaRPr b="0" i="0" sz="3200" u="none" cap="none" strike="noStrike">
              <a:solidFill>
                <a:schemeClr val="dk1"/>
              </a:solidFill>
              <a:latin typeface="Calibri"/>
              <a:ea typeface="Calibri"/>
              <a:cs typeface="Calibri"/>
              <a:sym typeface="Calibri"/>
            </a:endParaRPr>
          </a:p>
        </p:txBody>
      </p:sp>
      <p:sp>
        <p:nvSpPr>
          <p:cNvPr id="36" name="Google Shape;36;p2"/>
          <p:cNvSpPr/>
          <p:nvPr/>
        </p:nvSpPr>
        <p:spPr>
          <a:xfrm>
            <a:off x="640080" y="1600200"/>
            <a:ext cx="6126480" cy="4206240"/>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2E313D"/>
              </a:buClr>
              <a:buSzPts val="1450"/>
              <a:buFont typeface="Calibri"/>
              <a:buNone/>
            </a:pPr>
            <a:r>
              <a:rPr b="0" i="0" lang="en-US" sz="1450" u="none" cap="none" strike="noStrike">
                <a:solidFill>
                  <a:srgbClr val="2E313D"/>
                </a:solidFill>
                <a:latin typeface="Calibri"/>
                <a:ea typeface="Calibri"/>
                <a:cs typeface="Calibri"/>
                <a:sym typeface="Calibri"/>
              </a:rPr>
              <a:t>QConcursos es la mayor plataforma de preparación para concursos públicos de Brasil. En el país, los cargos públicos federales, estaduales y municipales son extremadamente competidos: ofrecen estabilidad y buenos salarios, y los candidatos suelen estudiar durante años hasta ser aprobados.</a:t>
            </a:r>
            <a:br>
              <a:rPr b="0" i="0" lang="en-US" sz="1450" u="none" cap="none" strike="noStrike">
                <a:solidFill>
                  <a:srgbClr val="2E313D"/>
                </a:solidFill>
                <a:latin typeface="Calibri"/>
                <a:ea typeface="Calibri"/>
                <a:cs typeface="Calibri"/>
                <a:sym typeface="Calibri"/>
              </a:rPr>
            </a:br>
            <a:br>
              <a:rPr b="0" i="0" lang="en-US" sz="1450" u="none" cap="none" strike="noStrike">
                <a:solidFill>
                  <a:srgbClr val="2E313D"/>
                </a:solidFill>
                <a:latin typeface="Calibri"/>
                <a:ea typeface="Calibri"/>
                <a:cs typeface="Calibri"/>
                <a:sym typeface="Calibri"/>
              </a:rPr>
            </a:br>
            <a:r>
              <a:rPr b="0" i="0" lang="en-US" sz="1450" u="none" cap="none" strike="noStrike">
                <a:solidFill>
                  <a:srgbClr val="2E313D"/>
                </a:solidFill>
                <a:latin typeface="Calibri"/>
                <a:ea typeface="Calibri"/>
                <a:cs typeface="Calibri"/>
                <a:sym typeface="Calibri"/>
              </a:rPr>
              <a:t>La plataforma organiza preguntas, simulacros y cursos por entidad examinadora, cargo y disciplina. Entré en 2014, trabajando directamente con los tres fundadores. A lo largo de cinco años, conforme la empresa crecía de cientos de miles a millones de usuarios, mi rol evolucionó, de generalista al equipo de Product &amp; Innovation, donde lideré el rediseño que es el foco de este case. El diferencial de la plataforma siempre fue el volumen de esa base de datos — y es exactamente ese volumen el que se convierte en el desafío central del case a continuación.</a:t>
            </a:r>
            <a:endParaRPr b="0" i="0" sz="1450" u="none" cap="none" strike="noStrike">
              <a:solidFill>
                <a:schemeClr val="dk1"/>
              </a:solidFill>
              <a:latin typeface="Calibri"/>
              <a:ea typeface="Calibri"/>
              <a:cs typeface="Calibri"/>
              <a:sym typeface="Calibri"/>
            </a:endParaRPr>
          </a:p>
        </p:txBody>
      </p:sp>
      <p:sp>
        <p:nvSpPr>
          <p:cNvPr id="37" name="Google Shape;37;p2"/>
          <p:cNvSpPr/>
          <p:nvPr/>
        </p:nvSpPr>
        <p:spPr>
          <a:xfrm>
            <a:off x="7223760" y="1600200"/>
            <a:ext cx="4297680" cy="4206240"/>
          </a:xfrm>
          <a:prstGeom prst="roundRect">
            <a:avLst>
              <a:gd fmla="val 1739" name="adj"/>
            </a:avLst>
          </a:prstGeom>
          <a:solidFill>
            <a:srgbClr val="1B1B2F"/>
          </a:solidFill>
          <a:ln>
            <a:noFill/>
          </a:ln>
          <a:effectLst>
            <a:outerShdw blurRad="152400" rotWithShape="0" algn="bl" dir="54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7589520" y="1920240"/>
            <a:ext cx="35661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00"/>
              <a:buFont typeface="Calibri"/>
              <a:buNone/>
            </a:pPr>
            <a:r>
              <a:rPr b="1" i="0" lang="en-US" sz="1000" u="none" cap="none" strike="noStrike">
                <a:solidFill>
                  <a:srgbClr val="F26522"/>
                </a:solidFill>
                <a:latin typeface="Calibri"/>
                <a:ea typeface="Calibri"/>
                <a:cs typeface="Calibri"/>
                <a:sym typeface="Calibri"/>
              </a:rPr>
              <a:t>NÚMEROS PÚBLICOS DE LA PLATAFORMA · 2017</a:t>
            </a:r>
            <a:endParaRPr b="0" i="0" sz="1000" u="none" cap="none" strike="noStrike">
              <a:solidFill>
                <a:schemeClr val="dk1"/>
              </a:solidFill>
              <a:latin typeface="Calibri"/>
              <a:ea typeface="Calibri"/>
              <a:cs typeface="Calibri"/>
              <a:sym typeface="Calibri"/>
            </a:endParaRPr>
          </a:p>
        </p:txBody>
      </p:sp>
      <p:sp>
        <p:nvSpPr>
          <p:cNvPr id="39" name="Google Shape;39;p2"/>
          <p:cNvSpPr/>
          <p:nvPr/>
        </p:nvSpPr>
        <p:spPr>
          <a:xfrm>
            <a:off x="7589520" y="2423160"/>
            <a:ext cx="35661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3,75M</a:t>
            </a:r>
            <a:endParaRPr b="0" i="0" sz="2600" u="none" cap="none" strike="noStrike">
              <a:solidFill>
                <a:schemeClr val="dk1"/>
              </a:solidFill>
              <a:latin typeface="Calibri"/>
              <a:ea typeface="Calibri"/>
              <a:cs typeface="Calibri"/>
              <a:sym typeface="Calibri"/>
            </a:endParaRPr>
          </a:p>
        </p:txBody>
      </p:sp>
      <p:sp>
        <p:nvSpPr>
          <p:cNvPr id="40" name="Google Shape;40;p2"/>
          <p:cNvSpPr/>
          <p:nvPr/>
        </p:nvSpPr>
        <p:spPr>
          <a:xfrm>
            <a:off x="7589520" y="2852928"/>
            <a:ext cx="3566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150"/>
              <a:buFont typeface="Calibri"/>
              <a:buNone/>
            </a:pPr>
            <a:r>
              <a:rPr b="0" i="0" lang="en-US" sz="1150" u="none" cap="none" strike="noStrike">
                <a:solidFill>
                  <a:srgbClr val="A9ABC0"/>
                </a:solidFill>
                <a:latin typeface="Calibri"/>
                <a:ea typeface="Calibri"/>
                <a:cs typeface="Calibri"/>
                <a:sym typeface="Calibri"/>
              </a:rPr>
              <a:t>alumnos registrados</a:t>
            </a:r>
            <a:endParaRPr b="0" i="0" sz="1150" u="none" cap="none" strike="noStrike">
              <a:solidFill>
                <a:schemeClr val="dk1"/>
              </a:solidFill>
              <a:latin typeface="Calibri"/>
              <a:ea typeface="Calibri"/>
              <a:cs typeface="Calibri"/>
              <a:sym typeface="Calibri"/>
            </a:endParaRPr>
          </a:p>
        </p:txBody>
      </p:sp>
      <p:sp>
        <p:nvSpPr>
          <p:cNvPr id="41" name="Google Shape;41;p2"/>
          <p:cNvSpPr/>
          <p:nvPr/>
        </p:nvSpPr>
        <p:spPr>
          <a:xfrm>
            <a:off x="7589520" y="3264408"/>
            <a:ext cx="35661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605 mil</a:t>
            </a:r>
            <a:endParaRPr b="0" i="0" sz="2600" u="none" cap="none" strike="noStrike">
              <a:solidFill>
                <a:schemeClr val="dk1"/>
              </a:solidFill>
              <a:latin typeface="Calibri"/>
              <a:ea typeface="Calibri"/>
              <a:cs typeface="Calibri"/>
              <a:sym typeface="Calibri"/>
            </a:endParaRPr>
          </a:p>
        </p:txBody>
      </p:sp>
      <p:sp>
        <p:nvSpPr>
          <p:cNvPr id="42" name="Google Shape;42;p2"/>
          <p:cNvSpPr/>
          <p:nvPr/>
        </p:nvSpPr>
        <p:spPr>
          <a:xfrm>
            <a:off x="7589520" y="3694176"/>
            <a:ext cx="3566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150"/>
              <a:buFont typeface="Calibri"/>
              <a:buNone/>
            </a:pPr>
            <a:r>
              <a:rPr b="0" i="0" lang="en-US" sz="1150" u="none" cap="none" strike="noStrike">
                <a:solidFill>
                  <a:srgbClr val="A9ABC0"/>
                </a:solidFill>
                <a:latin typeface="Calibri"/>
                <a:ea typeface="Calibri"/>
                <a:cs typeface="Calibri"/>
                <a:sym typeface="Calibri"/>
              </a:rPr>
              <a:t>preguntas catalogadas</a:t>
            </a:r>
            <a:endParaRPr b="0" i="0" sz="1150" u="none" cap="none" strike="noStrike">
              <a:solidFill>
                <a:schemeClr val="dk1"/>
              </a:solidFill>
              <a:latin typeface="Calibri"/>
              <a:ea typeface="Calibri"/>
              <a:cs typeface="Calibri"/>
              <a:sym typeface="Calibri"/>
            </a:endParaRPr>
          </a:p>
        </p:txBody>
      </p:sp>
      <p:sp>
        <p:nvSpPr>
          <p:cNvPr id="43" name="Google Shape;43;p2"/>
          <p:cNvSpPr/>
          <p:nvPr/>
        </p:nvSpPr>
        <p:spPr>
          <a:xfrm>
            <a:off x="7589520" y="4105656"/>
            <a:ext cx="35661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48,4 mil</a:t>
            </a:r>
            <a:endParaRPr b="0" i="0" sz="2600" u="none" cap="none" strike="noStrike">
              <a:solidFill>
                <a:schemeClr val="dk1"/>
              </a:solidFill>
              <a:latin typeface="Calibri"/>
              <a:ea typeface="Calibri"/>
              <a:cs typeface="Calibri"/>
              <a:sym typeface="Calibri"/>
            </a:endParaRPr>
          </a:p>
        </p:txBody>
      </p:sp>
      <p:sp>
        <p:nvSpPr>
          <p:cNvPr id="44" name="Google Shape;44;p2"/>
          <p:cNvSpPr/>
          <p:nvPr/>
        </p:nvSpPr>
        <p:spPr>
          <a:xfrm>
            <a:off x="7589520" y="4535424"/>
            <a:ext cx="3566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150"/>
              <a:buFont typeface="Calibri"/>
              <a:buNone/>
            </a:pPr>
            <a:r>
              <a:rPr b="0" i="0" lang="en-US" sz="1150" u="none" cap="none" strike="noStrike">
                <a:solidFill>
                  <a:srgbClr val="A9ABC0"/>
                </a:solidFill>
                <a:latin typeface="Calibri"/>
                <a:ea typeface="Calibri"/>
                <a:cs typeface="Calibri"/>
                <a:sym typeface="Calibri"/>
              </a:rPr>
              <a:t>exámenes mapeados</a:t>
            </a:r>
            <a:endParaRPr b="0" i="0" sz="1150" u="none" cap="none" strike="noStrike">
              <a:solidFill>
                <a:schemeClr val="dk1"/>
              </a:solidFill>
              <a:latin typeface="Calibri"/>
              <a:ea typeface="Calibri"/>
              <a:cs typeface="Calibri"/>
              <a:sym typeface="Calibri"/>
            </a:endParaRPr>
          </a:p>
        </p:txBody>
      </p:sp>
      <p:sp>
        <p:nvSpPr>
          <p:cNvPr id="45" name="Google Shape;45;p2"/>
          <p:cNvSpPr/>
          <p:nvPr/>
        </p:nvSpPr>
        <p:spPr>
          <a:xfrm>
            <a:off x="7589520" y="4946904"/>
            <a:ext cx="35661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11,5 mil</a:t>
            </a:r>
            <a:endParaRPr b="0" i="0" sz="2600" u="none" cap="none" strike="noStrike">
              <a:solidFill>
                <a:schemeClr val="dk1"/>
              </a:solidFill>
              <a:latin typeface="Calibri"/>
              <a:ea typeface="Calibri"/>
              <a:cs typeface="Calibri"/>
              <a:sym typeface="Calibri"/>
            </a:endParaRPr>
          </a:p>
        </p:txBody>
      </p:sp>
      <p:sp>
        <p:nvSpPr>
          <p:cNvPr id="46" name="Google Shape;46;p2"/>
          <p:cNvSpPr/>
          <p:nvPr/>
        </p:nvSpPr>
        <p:spPr>
          <a:xfrm>
            <a:off x="7589520" y="5376672"/>
            <a:ext cx="3566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150"/>
              <a:buFont typeface="Calibri"/>
              <a:buNone/>
            </a:pPr>
            <a:r>
              <a:rPr b="0" i="0" lang="en-US" sz="1150" u="none" cap="none" strike="noStrike">
                <a:solidFill>
                  <a:srgbClr val="A9ABC0"/>
                </a:solidFill>
                <a:latin typeface="Calibri"/>
                <a:ea typeface="Calibri"/>
                <a:cs typeface="Calibri"/>
                <a:sym typeface="Calibri"/>
              </a:rPr>
              <a:t>concursos cubiertos</a:t>
            </a:r>
            <a:endParaRPr b="0" i="0" sz="1150" u="none" cap="none" strike="noStrike">
              <a:solidFill>
                <a:schemeClr val="dk1"/>
              </a:solidFill>
              <a:latin typeface="Calibri"/>
              <a:ea typeface="Calibri"/>
              <a:cs typeface="Calibri"/>
              <a:sym typeface="Calibri"/>
            </a:endParaRPr>
          </a:p>
        </p:txBody>
      </p:sp>
      <p:sp>
        <p:nvSpPr>
          <p:cNvPr id="47" name="Google Shape;47;p2"/>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02 / 14</a:t>
            </a:r>
            <a:endParaRPr b="0" i="0" sz="900" u="none" cap="none" strike="noStrike">
              <a:solidFill>
                <a:schemeClr val="dk1"/>
              </a:solidFill>
              <a:latin typeface="Calibri"/>
              <a:ea typeface="Calibri"/>
              <a:cs typeface="Calibri"/>
              <a:sym typeface="Calibri"/>
            </a:endParaRPr>
          </a:p>
        </p:txBody>
      </p:sp>
      <p:sp>
        <p:nvSpPr>
          <p:cNvPr id="48" name="Google Shape;48;p2"/>
          <p:cNvSpPr txBox="1"/>
          <p:nvPr/>
        </p:nvSpPr>
        <p:spPr>
          <a:xfrm>
            <a:off x="640075" y="6065500"/>
            <a:ext cx="11433600" cy="669000"/>
          </a:xfrm>
          <a:prstGeom prst="rect">
            <a:avLst/>
          </a:prstGeom>
          <a:noFill/>
          <a:ln>
            <a:noFill/>
          </a:ln>
        </p:spPr>
        <p:txBody>
          <a:bodyPr anchorCtr="0" anchor="t" bIns="91425" lIns="91425" spcFirstLastPara="1" rIns="91425" wrap="square" tIns="91425">
            <a:spAutoFit/>
          </a:bodyPr>
          <a:lstStyle/>
          <a:p>
            <a:pPr indent="0" lvl="0" marL="0" marR="0" rtl="0" algn="l">
              <a:lnSpc>
                <a:spcPct val="151724"/>
              </a:lnSpc>
              <a:spcBef>
                <a:spcPts val="0"/>
              </a:spcBef>
              <a:spcAft>
                <a:spcPts val="0"/>
              </a:spcAft>
              <a:buClr>
                <a:srgbClr val="2E313D"/>
              </a:buClr>
              <a:buSzPts val="1450"/>
              <a:buFont typeface="Calibri"/>
              <a:buNone/>
            </a:pPr>
            <a:r>
              <a:rPr b="0" i="0" lang="en-US" sz="1250" u="none" cap="none" strike="noStrike">
                <a:solidFill>
                  <a:srgbClr val="2E313D"/>
                </a:solidFill>
                <a:latin typeface="Calibri"/>
                <a:ea typeface="Calibri"/>
                <a:cs typeface="Calibri"/>
                <a:sym typeface="Calibri"/>
              </a:rPr>
              <a:t>La característica distintiva de la plataforma siempre ha sido el tamaño de su base de datos, y es precisamente este tamaño el que se convierte en el principal desafío en el siguiente caso.</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53" name="Shape 53"/>
        <p:cNvGrpSpPr/>
        <p:nvPr/>
      </p:nvGrpSpPr>
      <p:grpSpPr>
        <a:xfrm>
          <a:off x="0" y="0"/>
          <a:ext cx="0" cy="0"/>
          <a:chOff x="0" y="0"/>
          <a:chExt cx="0" cy="0"/>
        </a:xfrm>
      </p:grpSpPr>
      <p:sp>
        <p:nvSpPr>
          <p:cNvPr id="54" name="Google Shape;54;p3"/>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02 · CRECIMIENTO</a:t>
            </a:r>
            <a:endParaRPr b="0" i="0" sz="1200" u="none" cap="none" strike="noStrike">
              <a:solidFill>
                <a:schemeClr val="dk1"/>
              </a:solidFill>
              <a:latin typeface="Calibri"/>
              <a:ea typeface="Calibri"/>
              <a:cs typeface="Calibri"/>
              <a:sym typeface="Calibri"/>
            </a:endParaRPr>
          </a:p>
        </p:txBody>
      </p:sp>
      <p:sp>
        <p:nvSpPr>
          <p:cNvPr id="55" name="Google Shape;55;p3"/>
          <p:cNvSpPr/>
          <p:nvPr/>
        </p:nvSpPr>
        <p:spPr>
          <a:xfrm>
            <a:off x="640080" y="7772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La Escala del Desafío</a:t>
            </a:r>
            <a:endParaRPr b="0" i="0" sz="3200" u="none" cap="none" strike="noStrike">
              <a:solidFill>
                <a:schemeClr val="dk1"/>
              </a:solidFill>
              <a:latin typeface="Calibri"/>
              <a:ea typeface="Calibri"/>
              <a:cs typeface="Calibri"/>
              <a:sym typeface="Calibri"/>
            </a:endParaRPr>
          </a:p>
        </p:txBody>
      </p:sp>
      <p:sp>
        <p:nvSpPr>
          <p:cNvPr id="56" name="Google Shape;56;p3"/>
          <p:cNvSpPr/>
          <p:nvPr/>
        </p:nvSpPr>
        <p:spPr>
          <a:xfrm>
            <a:off x="640080" y="1417320"/>
            <a:ext cx="7315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0737E"/>
              </a:buClr>
              <a:buSzPts val="1150"/>
              <a:buFont typeface="Calibri"/>
              <a:buNone/>
            </a:pPr>
            <a:r>
              <a:rPr b="0" i="1" lang="en-US" sz="1150" u="none" cap="none" strike="noStrike">
                <a:solidFill>
                  <a:srgbClr val="70737E"/>
                </a:solidFill>
                <a:latin typeface="Calibri"/>
                <a:ea typeface="Calibri"/>
                <a:cs typeface="Calibri"/>
                <a:sym typeface="Calibri"/>
              </a:rPr>
              <a:t>Curva ilustrativa de crecimiento, anclada a los hitos conocidos: cada año intermedio es una interpolación, no un dato medido.</a:t>
            </a:r>
            <a:endParaRPr b="0" i="0" sz="1150" u="none" cap="none" strike="noStrike">
              <a:solidFill>
                <a:schemeClr val="dk1"/>
              </a:solidFill>
              <a:latin typeface="Calibri"/>
              <a:ea typeface="Calibri"/>
              <a:cs typeface="Calibri"/>
              <a:sym typeface="Calibri"/>
            </a:endParaRPr>
          </a:p>
        </p:txBody>
      </p:sp>
      <p:graphicFrame>
        <p:nvGraphicFramePr>
          <p:cNvPr id="57" name="Google Shape;57;p3"/>
          <p:cNvGraphicFramePr/>
          <p:nvPr/>
        </p:nvGraphicFramePr>
        <p:xfrm>
          <a:off x="640080" y="1965960"/>
          <a:ext cx="7315200" cy="3931920"/>
        </p:xfrm>
        <a:graphic>
          <a:graphicData uri="http://schemas.openxmlformats.org/drawingml/2006/chart">
            <c:chart r:id="rId3"/>
          </a:graphicData>
        </a:graphic>
      </p:graphicFrame>
      <p:sp>
        <p:nvSpPr>
          <p:cNvPr id="58" name="Google Shape;58;p3"/>
          <p:cNvSpPr/>
          <p:nvPr/>
        </p:nvSpPr>
        <p:spPr>
          <a:xfrm>
            <a:off x="8229600" y="2103120"/>
            <a:ext cx="3291840" cy="1005840"/>
          </a:xfrm>
          <a:prstGeom prst="roundRect">
            <a:avLst>
              <a:gd fmla="val 5455" name="adj"/>
            </a:avLst>
          </a:prstGeom>
          <a:solidFill>
            <a:srgbClr val="EFEEEA"/>
          </a:solidFill>
          <a:ln cap="flat" cmpd="sng" w="12700">
            <a:solidFill>
              <a:srgbClr val="DEDC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
          <p:cNvSpPr/>
          <p:nvPr/>
        </p:nvSpPr>
        <p:spPr>
          <a:xfrm>
            <a:off x="8458200" y="2212848"/>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2014</a:t>
            </a:r>
            <a:endParaRPr b="0" i="0" sz="1200" u="none" cap="none" strike="noStrike">
              <a:solidFill>
                <a:schemeClr val="dk1"/>
              </a:solidFill>
              <a:latin typeface="Calibri"/>
              <a:ea typeface="Calibri"/>
              <a:cs typeface="Calibri"/>
              <a:sym typeface="Calibri"/>
            </a:endParaRPr>
          </a:p>
        </p:txBody>
      </p:sp>
      <p:sp>
        <p:nvSpPr>
          <p:cNvPr id="60" name="Google Shape;60;p3"/>
          <p:cNvSpPr/>
          <p:nvPr/>
        </p:nvSpPr>
        <p:spPr>
          <a:xfrm>
            <a:off x="8458200" y="2487168"/>
            <a:ext cx="2834640" cy="5486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2E313D"/>
              </a:buClr>
              <a:buSzPts val="1100"/>
              <a:buFont typeface="Calibri"/>
              <a:buNone/>
            </a:pPr>
            <a:r>
              <a:rPr b="0" i="0" lang="en-US" sz="1100" u="none" cap="none" strike="noStrike">
                <a:solidFill>
                  <a:srgbClr val="2E313D"/>
                </a:solidFill>
                <a:latin typeface="Calibri"/>
                <a:ea typeface="Calibri"/>
                <a:cs typeface="Calibri"/>
                <a:sym typeface="Calibri"/>
              </a:rPr>
              <a:t>~600 mil usuarios al inicio de mi trayectoria</a:t>
            </a:r>
            <a:endParaRPr b="0" i="0" sz="1100" u="none" cap="none" strike="noStrike">
              <a:solidFill>
                <a:schemeClr val="dk1"/>
              </a:solidFill>
              <a:latin typeface="Calibri"/>
              <a:ea typeface="Calibri"/>
              <a:cs typeface="Calibri"/>
              <a:sym typeface="Calibri"/>
            </a:endParaRPr>
          </a:p>
        </p:txBody>
      </p:sp>
      <p:sp>
        <p:nvSpPr>
          <p:cNvPr id="61" name="Google Shape;61;p3"/>
          <p:cNvSpPr/>
          <p:nvPr/>
        </p:nvSpPr>
        <p:spPr>
          <a:xfrm>
            <a:off x="8229600" y="3337560"/>
            <a:ext cx="3291840" cy="1005840"/>
          </a:xfrm>
          <a:prstGeom prst="roundRect">
            <a:avLst>
              <a:gd fmla="val 5455" name="adj"/>
            </a:avLst>
          </a:prstGeom>
          <a:solidFill>
            <a:srgbClr val="EFEEEA"/>
          </a:solidFill>
          <a:ln cap="flat" cmpd="sng" w="12700">
            <a:solidFill>
              <a:srgbClr val="DEDC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
          <p:cNvSpPr/>
          <p:nvPr/>
        </p:nvSpPr>
        <p:spPr>
          <a:xfrm>
            <a:off x="8458200" y="3447288"/>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2017</a:t>
            </a:r>
            <a:endParaRPr b="0" i="0" sz="1200" u="none" cap="none" strike="noStrike">
              <a:solidFill>
                <a:schemeClr val="dk1"/>
              </a:solidFill>
              <a:latin typeface="Calibri"/>
              <a:ea typeface="Calibri"/>
              <a:cs typeface="Calibri"/>
              <a:sym typeface="Calibri"/>
            </a:endParaRPr>
          </a:p>
        </p:txBody>
      </p:sp>
      <p:sp>
        <p:nvSpPr>
          <p:cNvPr id="63" name="Google Shape;63;p3"/>
          <p:cNvSpPr/>
          <p:nvPr/>
        </p:nvSpPr>
        <p:spPr>
          <a:xfrm>
            <a:off x="8458200" y="3721608"/>
            <a:ext cx="2834640" cy="5486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2E313D"/>
              </a:buClr>
              <a:buSzPts val="1100"/>
              <a:buFont typeface="Calibri"/>
              <a:buNone/>
            </a:pPr>
            <a:r>
              <a:rPr b="0" i="0" lang="en-US" sz="1100" u="none" cap="none" strike="noStrike">
                <a:solidFill>
                  <a:srgbClr val="2E313D"/>
                </a:solidFill>
                <a:latin typeface="Calibri"/>
                <a:ea typeface="Calibri"/>
                <a:cs typeface="Calibri"/>
                <a:sym typeface="Calibri"/>
              </a:rPr>
              <a:t>3,75M alumnos registrados (dato público)</a:t>
            </a:r>
            <a:endParaRPr b="0" i="0" sz="1100" u="none" cap="none" strike="noStrike">
              <a:solidFill>
                <a:schemeClr val="dk1"/>
              </a:solidFill>
              <a:latin typeface="Calibri"/>
              <a:ea typeface="Calibri"/>
              <a:cs typeface="Calibri"/>
              <a:sym typeface="Calibri"/>
            </a:endParaRPr>
          </a:p>
        </p:txBody>
      </p:sp>
      <p:sp>
        <p:nvSpPr>
          <p:cNvPr id="64" name="Google Shape;64;p3"/>
          <p:cNvSpPr/>
          <p:nvPr/>
        </p:nvSpPr>
        <p:spPr>
          <a:xfrm>
            <a:off x="8229600" y="4572000"/>
            <a:ext cx="3291840" cy="1005840"/>
          </a:xfrm>
          <a:prstGeom prst="roundRect">
            <a:avLst>
              <a:gd fmla="val 5455" name="adj"/>
            </a:avLst>
          </a:prstGeom>
          <a:solidFill>
            <a:srgbClr val="EFEEEA"/>
          </a:solidFill>
          <a:ln cap="flat" cmpd="sng" w="12700">
            <a:solidFill>
              <a:srgbClr val="DEDC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
          <p:cNvSpPr/>
          <p:nvPr/>
        </p:nvSpPr>
        <p:spPr>
          <a:xfrm>
            <a:off x="8458200" y="4681728"/>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2019</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8458200" y="4956048"/>
            <a:ext cx="2834640" cy="5486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2E313D"/>
              </a:buClr>
              <a:buSzPts val="1100"/>
              <a:buFont typeface="Calibri"/>
              <a:buNone/>
            </a:pPr>
            <a:r>
              <a:rPr b="0" i="0" lang="en-US" sz="1100" u="none" cap="none" strike="noStrike">
                <a:solidFill>
                  <a:srgbClr val="2E313D"/>
                </a:solidFill>
                <a:latin typeface="Calibri"/>
                <a:ea typeface="Calibri"/>
                <a:cs typeface="Calibri"/>
                <a:sym typeface="Calibri"/>
              </a:rPr>
              <a:t>10M+ usuarios activos, mi salida</a:t>
            </a:r>
            <a:endParaRPr b="0" i="0" sz="1100" u="none" cap="none" strike="noStrike">
              <a:solidFill>
                <a:schemeClr val="dk1"/>
              </a:solidFill>
              <a:latin typeface="Calibri"/>
              <a:ea typeface="Calibri"/>
              <a:cs typeface="Calibri"/>
              <a:sym typeface="Calibri"/>
            </a:endParaRPr>
          </a:p>
        </p:txBody>
      </p:sp>
      <p:sp>
        <p:nvSpPr>
          <p:cNvPr id="67" name="Google Shape;67;p3"/>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03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72" name="Shape 72"/>
        <p:cNvGrpSpPr/>
        <p:nvPr/>
      </p:nvGrpSpPr>
      <p:grpSpPr>
        <a:xfrm>
          <a:off x="0" y="0"/>
          <a:ext cx="0" cy="0"/>
          <a:chOff x="0" y="0"/>
          <a:chExt cx="0" cy="0"/>
        </a:xfrm>
      </p:grpSpPr>
      <p:sp>
        <p:nvSpPr>
          <p:cNvPr id="73" name="Google Shape;73;p4"/>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03 · EL DESAFÍO</a:t>
            </a:r>
            <a:endParaRPr b="0" i="0" sz="1200" u="none" cap="none" strike="noStrike">
              <a:solidFill>
                <a:schemeClr val="dk1"/>
              </a:solidFill>
              <a:latin typeface="Calibri"/>
              <a:ea typeface="Calibri"/>
              <a:cs typeface="Calibri"/>
              <a:sym typeface="Calibri"/>
            </a:endParaRPr>
          </a:p>
        </p:txBody>
      </p:sp>
      <p:sp>
        <p:nvSpPr>
          <p:cNvPr id="74" name="Google Shape;74;p4"/>
          <p:cNvSpPr/>
          <p:nvPr/>
        </p:nvSpPr>
        <p:spPr>
          <a:xfrm>
            <a:off x="640080" y="7772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El Problema</a:t>
            </a:r>
            <a:endParaRPr b="0" i="0" sz="3200" u="none" cap="none" strike="noStrike">
              <a:solidFill>
                <a:schemeClr val="dk1"/>
              </a:solidFill>
              <a:latin typeface="Calibri"/>
              <a:ea typeface="Calibri"/>
              <a:cs typeface="Calibri"/>
              <a:sym typeface="Calibri"/>
            </a:endParaRPr>
          </a:p>
        </p:txBody>
      </p:sp>
      <p:sp>
        <p:nvSpPr>
          <p:cNvPr id="75" name="Google Shape;75;p4"/>
          <p:cNvSpPr/>
          <p:nvPr/>
        </p:nvSpPr>
        <p:spPr>
          <a:xfrm>
            <a:off x="640080" y="1600200"/>
            <a:ext cx="6035040" cy="2377440"/>
          </a:xfrm>
          <a:prstGeom prst="rect">
            <a:avLst/>
          </a:prstGeom>
          <a:noFill/>
          <a:ln>
            <a:noFill/>
          </a:ln>
        </p:spPr>
        <p:txBody>
          <a:bodyPr anchorCtr="0" anchor="ctr" bIns="0" lIns="0" spcFirstLastPara="1" rIns="0" wrap="square" tIns="0">
            <a:noAutofit/>
          </a:bodyPr>
          <a:lstStyle/>
          <a:p>
            <a:pPr indent="0" lvl="0" marL="0" marR="0" rtl="0" algn="l">
              <a:lnSpc>
                <a:spcPct val="153333"/>
              </a:lnSpc>
              <a:spcBef>
                <a:spcPts val="0"/>
              </a:spcBef>
              <a:spcAft>
                <a:spcPts val="0"/>
              </a:spcAft>
              <a:buClr>
                <a:srgbClr val="A9ABC0"/>
              </a:buClr>
              <a:buSzPts val="1500"/>
              <a:buFont typeface="Calibri"/>
              <a:buNone/>
            </a:pPr>
            <a:r>
              <a:rPr b="0" i="0" lang="en-US" sz="1500" u="none" cap="none" strike="noStrike">
                <a:solidFill>
                  <a:srgbClr val="A9ABC0"/>
                </a:solidFill>
                <a:latin typeface="Calibri"/>
                <a:ea typeface="Calibri"/>
                <a:cs typeface="Calibri"/>
                <a:sym typeface="Calibri"/>
              </a:rPr>
              <a:t>Conforme el catálogo de preguntas crecía, encontrar la pregunta correcta (para la entidad correcta, el cargo correcto, la disciplina correcta) se volvía cada vez más difícil. Un candidato estudiando para un concurso específico necesitaba precisión quirúrgica, no una búsqueda genérica por palabra clave.</a:t>
            </a:r>
            <a:endParaRPr b="0" i="0" sz="1500" u="none" cap="none" strike="noStrike">
              <a:solidFill>
                <a:schemeClr val="dk1"/>
              </a:solidFill>
              <a:latin typeface="Calibri"/>
              <a:ea typeface="Calibri"/>
              <a:cs typeface="Calibri"/>
              <a:sym typeface="Calibri"/>
            </a:endParaRPr>
          </a:p>
        </p:txBody>
      </p:sp>
      <p:sp>
        <p:nvSpPr>
          <p:cNvPr id="76" name="Google Shape;76;p4"/>
          <p:cNvSpPr/>
          <p:nvPr/>
        </p:nvSpPr>
        <p:spPr>
          <a:xfrm>
            <a:off x="7315200" y="1600200"/>
            <a:ext cx="4206240" cy="4206240"/>
          </a:xfrm>
          <a:prstGeom prst="roundRect">
            <a:avLst>
              <a:gd fmla="val 1739" name="adj"/>
            </a:avLst>
          </a:prstGeom>
          <a:solidFill>
            <a:srgbClr val="2424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
          <p:cNvSpPr/>
          <p:nvPr/>
        </p:nvSpPr>
        <p:spPr>
          <a:xfrm>
            <a:off x="7315200" y="2651760"/>
            <a:ext cx="420624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6522"/>
              </a:buClr>
              <a:buSzPts val="4800"/>
              <a:buFont typeface="Cambria"/>
              <a:buNone/>
            </a:pPr>
            <a:r>
              <a:rPr b="1" i="0" lang="en-US" sz="4800" u="none" cap="none" strike="noStrike">
                <a:solidFill>
                  <a:srgbClr val="F26522"/>
                </a:solidFill>
                <a:latin typeface="Cambria"/>
                <a:ea typeface="Cambria"/>
                <a:cs typeface="Cambria"/>
                <a:sym typeface="Cambria"/>
              </a:rPr>
              <a:t>605 mil+</a:t>
            </a:r>
            <a:endParaRPr b="0" i="0" sz="4800" u="none" cap="none" strike="noStrike">
              <a:solidFill>
                <a:schemeClr val="dk1"/>
              </a:solidFill>
              <a:latin typeface="Calibri"/>
              <a:ea typeface="Calibri"/>
              <a:cs typeface="Calibri"/>
              <a:sym typeface="Calibri"/>
            </a:endParaRPr>
          </a:p>
        </p:txBody>
      </p:sp>
      <p:sp>
        <p:nvSpPr>
          <p:cNvPr id="78" name="Google Shape;78;p4"/>
          <p:cNvSpPr/>
          <p:nvPr/>
        </p:nvSpPr>
        <p:spPr>
          <a:xfrm>
            <a:off x="7589520" y="3566160"/>
            <a:ext cx="3657600" cy="822960"/>
          </a:xfrm>
          <a:prstGeom prst="rect">
            <a:avLst/>
          </a:prstGeom>
          <a:noFill/>
          <a:ln>
            <a:noFill/>
          </a:ln>
        </p:spPr>
        <p:txBody>
          <a:bodyPr anchorCtr="0" anchor="ctr" bIns="0" lIns="0" spcFirstLastPara="1" rIns="0" wrap="square" tIns="0">
            <a:noAutofit/>
          </a:bodyPr>
          <a:lstStyle/>
          <a:p>
            <a:pPr indent="0" lvl="0" marL="0" marR="0" rtl="0" algn="ctr">
              <a:lnSpc>
                <a:spcPct val="136000"/>
              </a:lnSpc>
              <a:spcBef>
                <a:spcPts val="0"/>
              </a:spcBef>
              <a:spcAft>
                <a:spcPts val="0"/>
              </a:spcAft>
              <a:buClr>
                <a:srgbClr val="A9ABC0"/>
              </a:buClr>
              <a:buSzPts val="1250"/>
              <a:buFont typeface="Calibri"/>
              <a:buNone/>
            </a:pPr>
            <a:r>
              <a:rPr b="0" i="0" lang="en-US" sz="1250" u="none" cap="none" strike="noStrike">
                <a:solidFill>
                  <a:srgbClr val="A9ABC0"/>
                </a:solidFill>
                <a:latin typeface="Calibri"/>
                <a:ea typeface="Calibri"/>
                <a:cs typeface="Calibri"/>
                <a:sym typeface="Calibri"/>
              </a:rPr>
              <a:t>preguntas catalogadas en la plataforma</a:t>
            </a:r>
            <a:endParaRPr b="0" i="0" sz="1250" u="none" cap="none" strike="noStrike">
              <a:solidFill>
                <a:schemeClr val="dk1"/>
              </a:solidFill>
              <a:latin typeface="Calibri"/>
              <a:ea typeface="Calibri"/>
              <a:cs typeface="Calibri"/>
              <a:sym typeface="Calibri"/>
            </a:endParaRPr>
          </a:p>
          <a:p>
            <a:pPr indent="0" lvl="0" marL="0" marR="0" rtl="0" algn="ctr">
              <a:lnSpc>
                <a:spcPct val="136000"/>
              </a:lnSpc>
              <a:spcBef>
                <a:spcPts val="0"/>
              </a:spcBef>
              <a:spcAft>
                <a:spcPts val="0"/>
              </a:spcAft>
              <a:buClr>
                <a:srgbClr val="A9ABC0"/>
              </a:buClr>
              <a:buSzPts val="1250"/>
              <a:buFont typeface="Calibri"/>
              <a:buNone/>
            </a:pPr>
            <a:r>
              <a:rPr b="0" i="0" lang="en-US" sz="1250" u="none" cap="none" strike="noStrike">
                <a:solidFill>
                  <a:srgbClr val="A9ABC0"/>
                </a:solidFill>
                <a:latin typeface="Calibri"/>
                <a:ea typeface="Calibri"/>
                <a:cs typeface="Calibri"/>
                <a:sym typeface="Calibri"/>
              </a:rPr>
              <a:t>(dato público, 2017)</a:t>
            </a:r>
            <a:endParaRPr b="0" i="0" sz="1250" u="none" cap="none" strike="noStrike">
              <a:solidFill>
                <a:schemeClr val="dk1"/>
              </a:solidFill>
              <a:latin typeface="Calibri"/>
              <a:ea typeface="Calibri"/>
              <a:cs typeface="Calibri"/>
              <a:sym typeface="Calibri"/>
            </a:endParaRPr>
          </a:p>
        </p:txBody>
      </p:sp>
      <p:sp>
        <p:nvSpPr>
          <p:cNvPr id="79" name="Google Shape;79;p4"/>
          <p:cNvSpPr/>
          <p:nvPr/>
        </p:nvSpPr>
        <p:spPr>
          <a:xfrm>
            <a:off x="7589520" y="4572000"/>
            <a:ext cx="3657600" cy="10058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rgbClr val="A9ABC0"/>
              </a:buClr>
              <a:buSzPts val="1150"/>
              <a:buFont typeface="Calibri"/>
              <a:buNone/>
            </a:pPr>
            <a:r>
              <a:rPr b="0" i="1" lang="en-US" sz="1150" u="none" cap="none" strike="noStrike">
                <a:solidFill>
                  <a:srgbClr val="A9ABC0"/>
                </a:solidFill>
                <a:latin typeface="Calibri"/>
                <a:ea typeface="Calibri"/>
                <a:cs typeface="Calibri"/>
                <a:sym typeface="Calibri"/>
              </a:rPr>
              <a:t>Sin una forma estructurada de filtrar por entidad, institución, cargo y disciplina al mismo tiempo, ese volumen se convertía en ruido en vez de valor.</a:t>
            </a:r>
            <a:endParaRPr b="0" i="0" sz="1150" u="none" cap="none" strike="noStrike">
              <a:solidFill>
                <a:schemeClr val="dk1"/>
              </a:solidFill>
              <a:latin typeface="Calibri"/>
              <a:ea typeface="Calibri"/>
              <a:cs typeface="Calibri"/>
              <a:sym typeface="Calibri"/>
            </a:endParaRPr>
          </a:p>
        </p:txBody>
      </p:sp>
      <p:sp>
        <p:nvSpPr>
          <p:cNvPr id="80" name="Google Shape;80;p4"/>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9ABC0"/>
              </a:buClr>
              <a:buSzPts val="900"/>
              <a:buFont typeface="Calibri"/>
              <a:buNone/>
            </a:pPr>
            <a:r>
              <a:rPr b="0" i="0" lang="en-US" sz="900" u="none" cap="none" strike="noStrike">
                <a:solidFill>
                  <a:srgbClr val="A9ABC0"/>
                </a:solidFill>
                <a:latin typeface="Calibri"/>
                <a:ea typeface="Calibri"/>
                <a:cs typeface="Calibri"/>
                <a:sym typeface="Calibri"/>
              </a:rPr>
              <a:t>04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85" name="Shape 85"/>
        <p:cNvGrpSpPr/>
        <p:nvPr/>
      </p:nvGrpSpPr>
      <p:grpSpPr>
        <a:xfrm>
          <a:off x="0" y="0"/>
          <a:ext cx="0" cy="0"/>
          <a:chOff x="0" y="0"/>
          <a:chExt cx="0" cy="0"/>
        </a:xfrm>
      </p:grpSpPr>
      <p:sp>
        <p:nvSpPr>
          <p:cNvPr id="86" name="Google Shape;86;p5"/>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04 · PROCESO</a:t>
            </a:r>
            <a:endParaRPr b="0" i="0" sz="1200" u="none" cap="none" strike="noStrike">
              <a:solidFill>
                <a:schemeClr val="dk1"/>
              </a:solidFill>
              <a:latin typeface="Calibri"/>
              <a:ea typeface="Calibri"/>
              <a:cs typeface="Calibri"/>
              <a:sym typeface="Calibri"/>
            </a:endParaRPr>
          </a:p>
        </p:txBody>
      </p:sp>
      <p:sp>
        <p:nvSpPr>
          <p:cNvPr id="87" name="Google Shape;87;p5"/>
          <p:cNvSpPr/>
          <p:nvPr/>
        </p:nvSpPr>
        <p:spPr>
          <a:xfrm>
            <a:off x="640080" y="7772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Cómo Validé el Problema</a:t>
            </a:r>
            <a:endParaRPr b="0" i="0" sz="3200" u="none" cap="none" strike="noStrike">
              <a:solidFill>
                <a:schemeClr val="dk1"/>
              </a:solidFill>
              <a:latin typeface="Calibri"/>
              <a:ea typeface="Calibri"/>
              <a:cs typeface="Calibri"/>
              <a:sym typeface="Calibri"/>
            </a:endParaRPr>
          </a:p>
        </p:txBody>
      </p:sp>
      <p:sp>
        <p:nvSpPr>
          <p:cNvPr id="88" name="Google Shape;88;p5"/>
          <p:cNvSpPr/>
          <p:nvPr/>
        </p:nvSpPr>
        <p:spPr>
          <a:xfrm>
            <a:off x="640080" y="1600200"/>
            <a:ext cx="6035040" cy="2377440"/>
          </a:xfrm>
          <a:prstGeom prst="rect">
            <a:avLst/>
          </a:prstGeom>
          <a:noFill/>
          <a:ln>
            <a:noFill/>
          </a:ln>
        </p:spPr>
        <p:txBody>
          <a:bodyPr anchorCtr="0" anchor="ctr" bIns="0" lIns="0" spcFirstLastPara="1" rIns="0" wrap="square" tIns="0">
            <a:noAutofit/>
          </a:bodyPr>
          <a:lstStyle/>
          <a:p>
            <a:pPr indent="0" lvl="0" marL="0" marR="0" rtl="0" algn="l">
              <a:lnSpc>
                <a:spcPct val="153333"/>
              </a:lnSpc>
              <a:spcBef>
                <a:spcPts val="0"/>
              </a:spcBef>
              <a:spcAft>
                <a:spcPts val="0"/>
              </a:spcAft>
              <a:buClr>
                <a:srgbClr val="A9ABC0"/>
              </a:buClr>
              <a:buSzPts val="1500"/>
              <a:buFont typeface="Calibri"/>
              <a:buNone/>
            </a:pPr>
            <a:r>
              <a:rPr b="0" i="0" lang="en-US" sz="1500" u="none" cap="none" strike="noStrike">
                <a:solidFill>
                  <a:srgbClr val="A9ABC0"/>
                </a:solidFill>
                <a:latin typeface="Calibri"/>
                <a:ea typeface="Calibri"/>
                <a:cs typeface="Calibri"/>
                <a:sym typeface="Calibri"/>
              </a:rPr>
              <a:t>Antes de diseñar cualquier solución, el equipo conversó con Atención al Cliente para entender las quejas recurrentes sobre la búsqueda de preguntas. Los tickets se categorizaban por tema y nivel de criticidad, y cuando un tema acumulaba un volumen alto de quejas repetidas, subía en la fila de prioridad de rediseño. Un panel de métricas de uso, visible para el equipo, ayudaba a confirmar dónde estaba la mayor fricción.</a:t>
            </a:r>
            <a:endParaRPr b="0" i="0" sz="1500" u="none" cap="none" strike="noStrike">
              <a:solidFill>
                <a:schemeClr val="dk1"/>
              </a:solidFill>
              <a:latin typeface="Calibri"/>
              <a:ea typeface="Calibri"/>
              <a:cs typeface="Calibri"/>
              <a:sym typeface="Calibri"/>
            </a:endParaRPr>
          </a:p>
        </p:txBody>
      </p:sp>
      <p:sp>
        <p:nvSpPr>
          <p:cNvPr id="89" name="Google Shape;89;p5"/>
          <p:cNvSpPr/>
          <p:nvPr/>
        </p:nvSpPr>
        <p:spPr>
          <a:xfrm>
            <a:off x="7315200" y="1600200"/>
            <a:ext cx="4206240" cy="4206240"/>
          </a:xfrm>
          <a:prstGeom prst="roundRect">
            <a:avLst>
              <a:gd fmla="val 1739" name="adj"/>
            </a:avLst>
          </a:prstGeom>
          <a:solidFill>
            <a:srgbClr val="2424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7315200" y="2651760"/>
            <a:ext cx="420624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6522"/>
              </a:buClr>
              <a:buSzPts val="4800"/>
              <a:buFont typeface="Cambria"/>
              <a:buNone/>
            </a:pPr>
            <a:r>
              <a:rPr b="1" i="0" lang="en-US" sz="4800" u="none" cap="none" strike="noStrike">
                <a:solidFill>
                  <a:srgbClr val="F26522"/>
                </a:solidFill>
                <a:latin typeface="Cambria"/>
                <a:ea typeface="Cambria"/>
                <a:cs typeface="Cambria"/>
                <a:sym typeface="Cambria"/>
              </a:rPr>
              <a:t>3 niveles</a:t>
            </a:r>
            <a:endParaRPr b="0" i="0" sz="4800" u="none" cap="none" strike="noStrike">
              <a:solidFill>
                <a:schemeClr val="dk1"/>
              </a:solidFill>
              <a:latin typeface="Calibri"/>
              <a:ea typeface="Calibri"/>
              <a:cs typeface="Calibri"/>
              <a:sym typeface="Calibri"/>
            </a:endParaRPr>
          </a:p>
        </p:txBody>
      </p:sp>
      <p:sp>
        <p:nvSpPr>
          <p:cNvPr id="91" name="Google Shape;91;p5"/>
          <p:cNvSpPr/>
          <p:nvPr/>
        </p:nvSpPr>
        <p:spPr>
          <a:xfrm>
            <a:off x="7589520" y="3566160"/>
            <a:ext cx="3657600" cy="822960"/>
          </a:xfrm>
          <a:prstGeom prst="rect">
            <a:avLst/>
          </a:prstGeom>
          <a:noFill/>
          <a:ln>
            <a:noFill/>
          </a:ln>
        </p:spPr>
        <p:txBody>
          <a:bodyPr anchorCtr="0" anchor="ctr" bIns="0" lIns="0" spcFirstLastPara="1" rIns="0" wrap="square" tIns="0">
            <a:noAutofit/>
          </a:bodyPr>
          <a:lstStyle/>
          <a:p>
            <a:pPr indent="0" lvl="0" marL="0" marR="0" rtl="0" algn="ctr">
              <a:lnSpc>
                <a:spcPct val="136000"/>
              </a:lnSpc>
              <a:spcBef>
                <a:spcPts val="0"/>
              </a:spcBef>
              <a:spcAft>
                <a:spcPts val="0"/>
              </a:spcAft>
              <a:buClr>
                <a:srgbClr val="A9ABC0"/>
              </a:buClr>
              <a:buSzPts val="1250"/>
              <a:buFont typeface="Calibri"/>
              <a:buNone/>
            </a:pPr>
            <a:r>
              <a:rPr b="0" i="0" lang="en-US" sz="1250" u="none" cap="none" strike="noStrike">
                <a:solidFill>
                  <a:srgbClr val="A9ABC0"/>
                </a:solidFill>
                <a:latin typeface="Calibri"/>
                <a:ea typeface="Calibri"/>
                <a:cs typeface="Calibri"/>
                <a:sym typeface="Calibri"/>
              </a:rPr>
              <a:t>de criticidad usados para clasificar tickets</a:t>
            </a:r>
            <a:endParaRPr b="0" i="0" sz="1250" u="none" cap="none" strike="noStrike">
              <a:solidFill>
                <a:schemeClr val="dk1"/>
              </a:solidFill>
              <a:latin typeface="Calibri"/>
              <a:ea typeface="Calibri"/>
              <a:cs typeface="Calibri"/>
              <a:sym typeface="Calibri"/>
            </a:endParaRPr>
          </a:p>
          <a:p>
            <a:pPr indent="0" lvl="0" marL="0" marR="0" rtl="0" algn="ctr">
              <a:lnSpc>
                <a:spcPct val="136000"/>
              </a:lnSpc>
              <a:spcBef>
                <a:spcPts val="0"/>
              </a:spcBef>
              <a:spcAft>
                <a:spcPts val="0"/>
              </a:spcAft>
              <a:buClr>
                <a:srgbClr val="A9ABC0"/>
              </a:buClr>
              <a:buSzPts val="1250"/>
              <a:buFont typeface="Calibri"/>
              <a:buNone/>
            </a:pPr>
            <a:r>
              <a:rPr b="0" i="0" lang="en-US" sz="1250" u="none" cap="none" strike="noStrike">
                <a:solidFill>
                  <a:srgbClr val="A9ABC0"/>
                </a:solidFill>
                <a:latin typeface="Calibri"/>
                <a:ea typeface="Calibri"/>
                <a:cs typeface="Calibri"/>
                <a:sym typeface="Calibri"/>
              </a:rPr>
              <a:t>crítico, mediano, secundario</a:t>
            </a:r>
            <a:endParaRPr b="0" i="0" sz="1250" u="none" cap="none" strike="noStrike">
              <a:solidFill>
                <a:schemeClr val="dk1"/>
              </a:solidFill>
              <a:latin typeface="Calibri"/>
              <a:ea typeface="Calibri"/>
              <a:cs typeface="Calibri"/>
              <a:sym typeface="Calibri"/>
            </a:endParaRPr>
          </a:p>
        </p:txBody>
      </p:sp>
      <p:sp>
        <p:nvSpPr>
          <p:cNvPr id="92" name="Google Shape;92;p5"/>
          <p:cNvSpPr/>
          <p:nvPr/>
        </p:nvSpPr>
        <p:spPr>
          <a:xfrm>
            <a:off x="7589520" y="4572000"/>
            <a:ext cx="3657600" cy="10058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rgbClr val="A9ABC0"/>
              </a:buClr>
              <a:buSzPts val="1150"/>
              <a:buFont typeface="Calibri"/>
              <a:buNone/>
            </a:pPr>
            <a:r>
              <a:rPr b="0" i="1" lang="en-US" sz="1150" u="none" cap="none" strike="noStrike">
                <a:solidFill>
                  <a:srgbClr val="A9ABC0"/>
                </a:solidFill>
                <a:latin typeface="Calibri"/>
                <a:ea typeface="Calibri"/>
                <a:cs typeface="Calibri"/>
                <a:sym typeface="Calibri"/>
              </a:rPr>
              <a:t>El </a:t>
            </a:r>
            <a:r>
              <a:rPr b="0" i="1" lang="en-US" sz="1150" u="none" cap="none" strike="noStrike">
                <a:solidFill>
                  <a:srgbClr val="F26522"/>
                </a:solidFill>
                <a:latin typeface="Calibri"/>
                <a:ea typeface="Calibri"/>
                <a:cs typeface="Calibri"/>
                <a:sym typeface="Calibri"/>
              </a:rPr>
              <a:t>filtro de preguntas</a:t>
            </a:r>
            <a:r>
              <a:rPr b="0" i="1" lang="en-US" sz="1150" u="none" cap="none" strike="noStrike">
                <a:solidFill>
                  <a:srgbClr val="A9ABC0"/>
                </a:solidFill>
                <a:latin typeface="Calibri"/>
                <a:ea typeface="Calibri"/>
                <a:cs typeface="Calibri"/>
                <a:sym typeface="Calibri"/>
              </a:rPr>
              <a:t> fue uno de los temas que surgió de esa clasificación como prioridad alta.</a:t>
            </a:r>
            <a:endParaRPr b="0" i="0" sz="1150" u="none" cap="none" strike="noStrike">
              <a:solidFill>
                <a:schemeClr val="dk1"/>
              </a:solidFill>
              <a:latin typeface="Calibri"/>
              <a:ea typeface="Calibri"/>
              <a:cs typeface="Calibri"/>
              <a:sym typeface="Calibri"/>
            </a:endParaRPr>
          </a:p>
        </p:txBody>
      </p:sp>
      <p:sp>
        <p:nvSpPr>
          <p:cNvPr id="93" name="Google Shape;93;p5"/>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9ABC0"/>
              </a:buClr>
              <a:buSzPts val="900"/>
              <a:buFont typeface="Calibri"/>
              <a:buNone/>
            </a:pPr>
            <a:r>
              <a:rPr b="0" i="0" lang="en-US" sz="900" u="none" cap="none" strike="noStrike">
                <a:solidFill>
                  <a:srgbClr val="A9ABC0"/>
                </a:solidFill>
                <a:latin typeface="Calibri"/>
                <a:ea typeface="Calibri"/>
                <a:cs typeface="Calibri"/>
                <a:sym typeface="Calibri"/>
              </a:rPr>
              <a:t>05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98" name="Shape 98"/>
        <p:cNvGrpSpPr/>
        <p:nvPr/>
      </p:nvGrpSpPr>
      <p:grpSpPr>
        <a:xfrm>
          <a:off x="0" y="0"/>
          <a:ext cx="0" cy="0"/>
          <a:chOff x="0" y="0"/>
          <a:chExt cx="0" cy="0"/>
        </a:xfrm>
      </p:grpSpPr>
      <p:sp>
        <p:nvSpPr>
          <p:cNvPr id="99" name="Google Shape;99;p6"/>
          <p:cNvSpPr/>
          <p:nvPr/>
        </p:nvSpPr>
        <p:spPr>
          <a:xfrm>
            <a:off x="1770726" y="457200"/>
            <a:ext cx="61845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05 · DESIGN</a:t>
            </a:r>
            <a:endParaRPr b="0" i="0" sz="1200" u="none" cap="none" strike="noStrike">
              <a:solidFill>
                <a:schemeClr val="dk1"/>
              </a:solidFill>
              <a:latin typeface="Calibri"/>
              <a:ea typeface="Calibri"/>
              <a:cs typeface="Calibri"/>
              <a:sym typeface="Calibri"/>
            </a:endParaRPr>
          </a:p>
        </p:txBody>
      </p:sp>
      <p:sp>
        <p:nvSpPr>
          <p:cNvPr id="100" name="Google Shape;100;p6"/>
          <p:cNvSpPr/>
          <p:nvPr/>
        </p:nvSpPr>
        <p:spPr>
          <a:xfrm>
            <a:off x="1770726" y="777250"/>
            <a:ext cx="80133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000"/>
              <a:buFont typeface="Cambria"/>
              <a:buNone/>
            </a:pPr>
            <a:r>
              <a:rPr b="1" i="0" lang="en-US" sz="3000" u="none" cap="none" strike="noStrike">
                <a:solidFill>
                  <a:srgbClr val="2E313D"/>
                </a:solidFill>
                <a:latin typeface="Cambria"/>
                <a:ea typeface="Cambria"/>
                <a:cs typeface="Cambria"/>
                <a:sym typeface="Cambria"/>
              </a:rPr>
              <a:t>La Solución: Filtro de Preguntas</a:t>
            </a:r>
            <a:endParaRPr b="0" i="0" sz="3000" u="none" cap="none" strike="noStrike">
              <a:solidFill>
                <a:schemeClr val="dk1"/>
              </a:solidFill>
              <a:latin typeface="Calibri"/>
              <a:ea typeface="Calibri"/>
              <a:cs typeface="Calibri"/>
              <a:sym typeface="Calibri"/>
            </a:endParaRPr>
          </a:p>
        </p:txBody>
      </p:sp>
      <p:sp>
        <p:nvSpPr>
          <p:cNvPr id="101" name="Google Shape;101;p6"/>
          <p:cNvSpPr/>
          <p:nvPr/>
        </p:nvSpPr>
        <p:spPr>
          <a:xfrm>
            <a:off x="1770736" y="1435608"/>
            <a:ext cx="8650224" cy="4564736"/>
          </a:xfrm>
          <a:prstGeom prst="roundRect">
            <a:avLst>
              <a:gd fmla="val 1002" name="adj"/>
            </a:avLst>
          </a:prstGeom>
          <a:solidFill>
            <a:srgbClr val="FFFFFF"/>
          </a:solidFill>
          <a:ln cap="flat" cmpd="sng" w="12700">
            <a:solidFill>
              <a:srgbClr val="DEDCD5"/>
            </a:solidFill>
            <a:prstDash val="solid"/>
            <a:round/>
            <a:headEnd len="sm" w="sm" type="none"/>
            <a:tailEnd len="sm" w="sm" type="none"/>
          </a:ln>
          <a:effectLst>
            <a:outerShdw blurRad="177800" rotWithShape="0" algn="bl" dir="5400000" dist="50800">
              <a:srgbClr val="000000">
                <a:alpha val="1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qconcursos-deck/filtro-questoes.png" id="102" name="Google Shape;102;p6"/>
          <p:cNvPicPr preferRelativeResize="0"/>
          <p:nvPr/>
        </p:nvPicPr>
        <p:blipFill rotWithShape="1">
          <a:blip r:embed="rId3">
            <a:alphaModFix/>
          </a:blip>
          <a:srcRect b="0" l="0" r="0" t="0"/>
          <a:stretch/>
        </p:blipFill>
        <p:spPr>
          <a:xfrm>
            <a:off x="1843888" y="1508760"/>
            <a:ext cx="8503920" cy="4418432"/>
          </a:xfrm>
          <a:prstGeom prst="rect">
            <a:avLst/>
          </a:prstGeom>
          <a:noFill/>
          <a:ln>
            <a:noFill/>
          </a:ln>
        </p:spPr>
      </p:pic>
      <p:sp>
        <p:nvSpPr>
          <p:cNvPr id="103" name="Google Shape;103;p6"/>
          <p:cNvSpPr/>
          <p:nvPr/>
        </p:nvSpPr>
        <p:spPr>
          <a:xfrm>
            <a:off x="1797410" y="6178439"/>
            <a:ext cx="8650200" cy="9429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050" u="none" cap="none" strike="noStrike">
                <a:solidFill>
                  <a:srgbClr val="70737E"/>
                </a:solidFill>
                <a:latin typeface="Calibri"/>
                <a:ea typeface="Calibri"/>
                <a:cs typeface="Calibri"/>
                <a:sym typeface="Calibri"/>
              </a:rPr>
              <a:t>Panel con 12 campos de filtro (Disciplina, Asignatura, Junta Examinadora, Institución, Año, Puesto, Nivel, Área de Estudio, Área de Especialización, Modalidad, Dificultad y Palabra Clave), donde cada selección refina automáticamente las opciones disponibles en los demás campos.</a:t>
            </a:r>
            <a:endParaRPr b="0" i="0" sz="1050" u="none" cap="none" strike="noStrike">
              <a:solidFill>
                <a:schemeClr val="dk1"/>
              </a:solidFill>
              <a:latin typeface="Calibri"/>
              <a:ea typeface="Calibri"/>
              <a:cs typeface="Calibri"/>
              <a:sym typeface="Calibri"/>
            </a:endParaRPr>
          </a:p>
        </p:txBody>
      </p:sp>
      <p:sp>
        <p:nvSpPr>
          <p:cNvPr id="104" name="Google Shape;104;p6"/>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06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109" name="Shape 109"/>
        <p:cNvGrpSpPr/>
        <p:nvPr/>
      </p:nvGrpSpPr>
      <p:grpSpPr>
        <a:xfrm>
          <a:off x="0" y="0"/>
          <a:ext cx="0" cy="0"/>
          <a:chOff x="0" y="0"/>
          <a:chExt cx="0" cy="0"/>
        </a:xfrm>
      </p:grpSpPr>
      <p:sp>
        <p:nvSpPr>
          <p:cNvPr id="110" name="Google Shape;110;p7"/>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06 · MECANISMO</a:t>
            </a:r>
            <a:endParaRPr b="0" i="0" sz="1200" u="none" cap="none" strike="noStrike">
              <a:solidFill>
                <a:schemeClr val="dk1"/>
              </a:solidFill>
              <a:latin typeface="Calibri"/>
              <a:ea typeface="Calibri"/>
              <a:cs typeface="Calibri"/>
              <a:sym typeface="Calibri"/>
            </a:endParaRPr>
          </a:p>
        </p:txBody>
      </p:sp>
      <p:sp>
        <p:nvSpPr>
          <p:cNvPr id="111" name="Google Shape;111;p7"/>
          <p:cNvSpPr/>
          <p:nvPr/>
        </p:nvSpPr>
        <p:spPr>
          <a:xfrm>
            <a:off x="640080" y="777240"/>
            <a:ext cx="96012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2900"/>
              <a:buFont typeface="Cambria"/>
              <a:buNone/>
            </a:pPr>
            <a:r>
              <a:rPr b="1" i="0" lang="en-US" sz="2900" u="none" cap="none" strike="noStrike">
                <a:solidFill>
                  <a:srgbClr val="2E313D"/>
                </a:solidFill>
                <a:latin typeface="Cambria"/>
                <a:ea typeface="Cambria"/>
                <a:cs typeface="Cambria"/>
                <a:sym typeface="Cambria"/>
              </a:rPr>
              <a:t>Cómo Funciona: Filtro en Cascada</a:t>
            </a:r>
            <a:endParaRPr b="0" i="0" sz="2900" u="none" cap="none" strike="noStrike">
              <a:solidFill>
                <a:schemeClr val="dk1"/>
              </a:solidFill>
              <a:latin typeface="Calibri"/>
              <a:ea typeface="Calibri"/>
              <a:cs typeface="Calibri"/>
              <a:sym typeface="Calibri"/>
            </a:endParaRPr>
          </a:p>
        </p:txBody>
      </p:sp>
      <p:sp>
        <p:nvSpPr>
          <p:cNvPr id="112" name="Google Shape;112;p7"/>
          <p:cNvSpPr/>
          <p:nvPr/>
        </p:nvSpPr>
        <p:spPr>
          <a:xfrm>
            <a:off x="640080" y="1463040"/>
            <a:ext cx="10058400" cy="54864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350"/>
              <a:buFont typeface="Calibri"/>
              <a:buNone/>
            </a:pPr>
            <a:r>
              <a:rPr b="0" i="0" lang="en-US" sz="1350" u="none" cap="none" strike="noStrike">
                <a:solidFill>
                  <a:srgbClr val="2E313D"/>
                </a:solidFill>
                <a:latin typeface="Calibri"/>
                <a:ea typeface="Calibri"/>
                <a:cs typeface="Calibri"/>
                <a:sym typeface="Calibri"/>
              </a:rPr>
              <a:t>Cada campo no es independiente. Elegir un valor reduce automáticamente las opciones disponibles en los campos siguientes, guiando al usuario hasta el conjunto exacto de preguntas que necesita.</a:t>
            </a:r>
            <a:endParaRPr b="0" i="0" sz="1350" u="none" cap="none" strike="noStrike">
              <a:solidFill>
                <a:schemeClr val="dk1"/>
              </a:solidFill>
              <a:latin typeface="Calibri"/>
              <a:ea typeface="Calibri"/>
              <a:cs typeface="Calibri"/>
              <a:sym typeface="Calibri"/>
            </a:endParaRPr>
          </a:p>
        </p:txBody>
      </p:sp>
      <p:sp>
        <p:nvSpPr>
          <p:cNvPr id="113" name="Google Shape;113;p7"/>
          <p:cNvSpPr/>
          <p:nvPr/>
        </p:nvSpPr>
        <p:spPr>
          <a:xfrm>
            <a:off x="860908" y="2743200"/>
            <a:ext cx="237744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7"/>
          <p:cNvSpPr/>
          <p:nvPr/>
        </p:nvSpPr>
        <p:spPr>
          <a:xfrm>
            <a:off x="1043788" y="2907792"/>
            <a:ext cx="548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800"/>
              <a:buFont typeface="Cambria"/>
              <a:buNone/>
            </a:pPr>
            <a:r>
              <a:rPr b="1" i="0" lang="en-US" sz="1800" u="none" cap="none" strike="noStrike">
                <a:solidFill>
                  <a:srgbClr val="F26522"/>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15" name="Google Shape;115;p7"/>
          <p:cNvSpPr/>
          <p:nvPr/>
        </p:nvSpPr>
        <p:spPr>
          <a:xfrm>
            <a:off x="1043788" y="3310128"/>
            <a:ext cx="2011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450"/>
              <a:buFont typeface="Calibri"/>
              <a:buNone/>
            </a:pPr>
            <a:r>
              <a:rPr b="1" i="0" lang="en-US" sz="1450" u="none" cap="none" strike="noStrike">
                <a:solidFill>
                  <a:srgbClr val="2E313D"/>
                </a:solidFill>
                <a:latin typeface="Calibri"/>
                <a:ea typeface="Calibri"/>
                <a:cs typeface="Calibri"/>
                <a:sym typeface="Calibri"/>
              </a:rPr>
              <a:t>Disciplina</a:t>
            </a:r>
            <a:endParaRPr b="0" i="0" sz="1450" u="none" cap="none" strike="noStrike">
              <a:solidFill>
                <a:schemeClr val="dk1"/>
              </a:solidFill>
              <a:latin typeface="Calibri"/>
              <a:ea typeface="Calibri"/>
              <a:cs typeface="Calibri"/>
              <a:sym typeface="Calibri"/>
            </a:endParaRPr>
          </a:p>
        </p:txBody>
      </p:sp>
      <p:sp>
        <p:nvSpPr>
          <p:cNvPr id="116" name="Google Shape;116;p7"/>
          <p:cNvSpPr/>
          <p:nvPr/>
        </p:nvSpPr>
        <p:spPr>
          <a:xfrm>
            <a:off x="1043788" y="3703320"/>
            <a:ext cx="2011680" cy="10058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70737E"/>
              </a:buClr>
              <a:buSzPts val="1100"/>
              <a:buFont typeface="Calibri"/>
              <a:buNone/>
            </a:pPr>
            <a:r>
              <a:rPr b="0" i="0" lang="en-US" sz="1100" u="none" cap="none" strike="noStrike">
                <a:solidFill>
                  <a:srgbClr val="70737E"/>
                </a:solidFill>
                <a:latin typeface="Calibri"/>
                <a:ea typeface="Calibri"/>
                <a:cs typeface="Calibri"/>
                <a:sym typeface="Calibri"/>
              </a:rPr>
              <a:t>Ej.: Derecho Administrativo</a:t>
            </a:r>
            <a:endParaRPr b="0" i="0" sz="1100" u="none" cap="none" strike="noStrike">
              <a:solidFill>
                <a:schemeClr val="dk1"/>
              </a:solidFill>
              <a:latin typeface="Calibri"/>
              <a:ea typeface="Calibri"/>
              <a:cs typeface="Calibri"/>
              <a:sym typeface="Calibri"/>
            </a:endParaRPr>
          </a:p>
        </p:txBody>
      </p:sp>
      <p:sp>
        <p:nvSpPr>
          <p:cNvPr id="117" name="Google Shape;117;p7"/>
          <p:cNvSpPr/>
          <p:nvPr/>
        </p:nvSpPr>
        <p:spPr>
          <a:xfrm>
            <a:off x="3238348" y="3566160"/>
            <a:ext cx="3200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0737E"/>
              </a:buClr>
              <a:buSzPts val="1800"/>
              <a:buFont typeface="Calibri"/>
              <a:buNone/>
            </a:pPr>
            <a:r>
              <a:rPr b="0" i="0" lang="en-US" sz="1800" u="none" cap="none" strike="noStrike">
                <a:solidFill>
                  <a:srgbClr val="70737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3558388" y="2743200"/>
            <a:ext cx="237744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7"/>
          <p:cNvSpPr/>
          <p:nvPr/>
        </p:nvSpPr>
        <p:spPr>
          <a:xfrm>
            <a:off x="3741268" y="2907792"/>
            <a:ext cx="548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800"/>
              <a:buFont typeface="Cambria"/>
              <a:buNone/>
            </a:pPr>
            <a:r>
              <a:rPr b="1" i="0" lang="en-US" sz="1800" u="none" cap="none" strike="noStrike">
                <a:solidFill>
                  <a:srgbClr val="F26522"/>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20" name="Google Shape;120;p7"/>
          <p:cNvSpPr/>
          <p:nvPr/>
        </p:nvSpPr>
        <p:spPr>
          <a:xfrm>
            <a:off x="3741268" y="3310128"/>
            <a:ext cx="2011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450"/>
              <a:buFont typeface="Calibri"/>
              <a:buNone/>
            </a:pPr>
            <a:r>
              <a:rPr b="1" i="0" lang="en-US" sz="1450" u="none" cap="none" strike="noStrike">
                <a:solidFill>
                  <a:srgbClr val="2E313D"/>
                </a:solidFill>
                <a:latin typeface="Calibri"/>
                <a:ea typeface="Calibri"/>
                <a:cs typeface="Calibri"/>
                <a:sym typeface="Calibri"/>
              </a:rPr>
              <a:t>Entidad examinadora</a:t>
            </a:r>
            <a:endParaRPr b="0" i="0" sz="1450" u="none" cap="none" strike="noStrike">
              <a:solidFill>
                <a:schemeClr val="dk1"/>
              </a:solidFill>
              <a:latin typeface="Calibri"/>
              <a:ea typeface="Calibri"/>
              <a:cs typeface="Calibri"/>
              <a:sym typeface="Calibri"/>
            </a:endParaRPr>
          </a:p>
        </p:txBody>
      </p:sp>
      <p:sp>
        <p:nvSpPr>
          <p:cNvPr id="121" name="Google Shape;121;p7"/>
          <p:cNvSpPr/>
          <p:nvPr/>
        </p:nvSpPr>
        <p:spPr>
          <a:xfrm>
            <a:off x="3741268" y="3703320"/>
            <a:ext cx="2011680" cy="10058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70737E"/>
              </a:buClr>
              <a:buSzPts val="1100"/>
              <a:buFont typeface="Calibri"/>
              <a:buNone/>
            </a:pPr>
            <a:r>
              <a:rPr b="0" i="0" lang="en-US" sz="1100" u="none" cap="none" strike="noStrike">
                <a:solidFill>
                  <a:srgbClr val="70737E"/>
                </a:solidFill>
                <a:latin typeface="Calibri"/>
                <a:ea typeface="Calibri"/>
                <a:cs typeface="Calibri"/>
                <a:sym typeface="Calibri"/>
              </a:rPr>
              <a:t>Opciones filtradas para las entidades</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70737E"/>
              </a:buClr>
              <a:buSzPts val="1100"/>
              <a:buFont typeface="Calibri"/>
              <a:buNone/>
            </a:pPr>
            <a:r>
              <a:rPr b="0" i="0" lang="en-US" sz="1100" u="none" cap="none" strike="noStrike">
                <a:solidFill>
                  <a:srgbClr val="70737E"/>
                </a:solidFill>
                <a:latin typeface="Calibri"/>
                <a:ea typeface="Calibri"/>
                <a:cs typeface="Calibri"/>
                <a:sym typeface="Calibri"/>
              </a:rPr>
              <a:t>que evalúan esa disciplina</a:t>
            </a:r>
            <a:endParaRPr b="0" i="0" sz="1100" u="none" cap="none" strike="noStrike">
              <a:solidFill>
                <a:schemeClr val="dk1"/>
              </a:solidFill>
              <a:latin typeface="Calibri"/>
              <a:ea typeface="Calibri"/>
              <a:cs typeface="Calibri"/>
              <a:sym typeface="Calibri"/>
            </a:endParaRPr>
          </a:p>
        </p:txBody>
      </p:sp>
      <p:sp>
        <p:nvSpPr>
          <p:cNvPr id="122" name="Google Shape;122;p7"/>
          <p:cNvSpPr/>
          <p:nvPr/>
        </p:nvSpPr>
        <p:spPr>
          <a:xfrm>
            <a:off x="5935828" y="3566160"/>
            <a:ext cx="3200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0737E"/>
              </a:buClr>
              <a:buSzPts val="1800"/>
              <a:buFont typeface="Calibri"/>
              <a:buNone/>
            </a:pPr>
            <a:r>
              <a:rPr b="0" i="0" lang="en-US" sz="1800" u="none" cap="none" strike="noStrike">
                <a:solidFill>
                  <a:srgbClr val="70737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23" name="Google Shape;123;p7"/>
          <p:cNvSpPr/>
          <p:nvPr/>
        </p:nvSpPr>
        <p:spPr>
          <a:xfrm>
            <a:off x="6255868" y="2743200"/>
            <a:ext cx="237744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7"/>
          <p:cNvSpPr/>
          <p:nvPr/>
        </p:nvSpPr>
        <p:spPr>
          <a:xfrm>
            <a:off x="6438748" y="2907792"/>
            <a:ext cx="548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800"/>
              <a:buFont typeface="Cambria"/>
              <a:buNone/>
            </a:pPr>
            <a:r>
              <a:rPr b="1" i="0" lang="en-US" sz="1800" u="none" cap="none" strike="noStrike">
                <a:solidFill>
                  <a:srgbClr val="F26522"/>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25" name="Google Shape;125;p7"/>
          <p:cNvSpPr/>
          <p:nvPr/>
        </p:nvSpPr>
        <p:spPr>
          <a:xfrm>
            <a:off x="6438748" y="3310128"/>
            <a:ext cx="2011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450"/>
              <a:buFont typeface="Calibri"/>
              <a:buNone/>
            </a:pPr>
            <a:r>
              <a:rPr b="1" i="0" lang="en-US" sz="1450" u="none" cap="none" strike="noStrike">
                <a:solidFill>
                  <a:srgbClr val="2E313D"/>
                </a:solidFill>
                <a:latin typeface="Calibri"/>
                <a:ea typeface="Calibri"/>
                <a:cs typeface="Calibri"/>
                <a:sym typeface="Calibri"/>
              </a:rPr>
              <a:t>Institución</a:t>
            </a:r>
            <a:endParaRPr b="0" i="0" sz="1450" u="none" cap="none" strike="noStrike">
              <a:solidFill>
                <a:schemeClr val="dk1"/>
              </a:solidFill>
              <a:latin typeface="Calibri"/>
              <a:ea typeface="Calibri"/>
              <a:cs typeface="Calibri"/>
              <a:sym typeface="Calibri"/>
            </a:endParaRPr>
          </a:p>
        </p:txBody>
      </p:sp>
      <p:sp>
        <p:nvSpPr>
          <p:cNvPr id="126" name="Google Shape;126;p7"/>
          <p:cNvSpPr/>
          <p:nvPr/>
        </p:nvSpPr>
        <p:spPr>
          <a:xfrm>
            <a:off x="6438748" y="3703320"/>
            <a:ext cx="2011680" cy="10058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70737E"/>
              </a:buClr>
              <a:buSzPts val="1100"/>
              <a:buFont typeface="Calibri"/>
              <a:buNone/>
            </a:pPr>
            <a:r>
              <a:rPr b="0" i="0" lang="en-US" sz="1100" u="none" cap="none" strike="noStrike">
                <a:solidFill>
                  <a:srgbClr val="70737E"/>
                </a:solidFill>
                <a:latin typeface="Calibri"/>
                <a:ea typeface="Calibri"/>
                <a:cs typeface="Calibri"/>
                <a:sym typeface="Calibri"/>
              </a:rPr>
              <a:t>Opciones filtradas para quién</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70737E"/>
              </a:buClr>
              <a:buSzPts val="1100"/>
              <a:buFont typeface="Calibri"/>
              <a:buNone/>
            </a:pPr>
            <a:r>
              <a:rPr b="0" i="0" lang="en-US" sz="1100" u="none" cap="none" strike="noStrike">
                <a:solidFill>
                  <a:srgbClr val="70737E"/>
                </a:solidFill>
                <a:latin typeface="Calibri"/>
                <a:ea typeface="Calibri"/>
                <a:cs typeface="Calibri"/>
                <a:sym typeface="Calibri"/>
              </a:rPr>
              <a:t>contrató esa entidad</a:t>
            </a:r>
            <a:endParaRPr b="0" i="0" sz="1100" u="none" cap="none" strike="noStrike">
              <a:solidFill>
                <a:schemeClr val="dk1"/>
              </a:solidFill>
              <a:latin typeface="Calibri"/>
              <a:ea typeface="Calibri"/>
              <a:cs typeface="Calibri"/>
              <a:sym typeface="Calibri"/>
            </a:endParaRPr>
          </a:p>
        </p:txBody>
      </p:sp>
      <p:sp>
        <p:nvSpPr>
          <p:cNvPr id="127" name="Google Shape;127;p7"/>
          <p:cNvSpPr/>
          <p:nvPr/>
        </p:nvSpPr>
        <p:spPr>
          <a:xfrm>
            <a:off x="8633308" y="3566160"/>
            <a:ext cx="3200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0737E"/>
              </a:buClr>
              <a:buSzPts val="1800"/>
              <a:buFont typeface="Calibri"/>
              <a:buNone/>
            </a:pPr>
            <a:r>
              <a:rPr b="0" i="0" lang="en-US" sz="1800" u="none" cap="none" strike="noStrike">
                <a:solidFill>
                  <a:srgbClr val="70737E"/>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28" name="Google Shape;128;p7"/>
          <p:cNvSpPr/>
          <p:nvPr/>
        </p:nvSpPr>
        <p:spPr>
          <a:xfrm>
            <a:off x="8953348" y="2743200"/>
            <a:ext cx="2377440" cy="2103120"/>
          </a:xfrm>
          <a:prstGeom prst="roundRect">
            <a:avLst>
              <a:gd fmla="val 3043" name="adj"/>
            </a:avLst>
          </a:prstGeom>
          <a:solidFill>
            <a:srgbClr val="1B1B2F"/>
          </a:solidFill>
          <a:ln cap="flat" cmpd="sng" w="12700">
            <a:solidFill>
              <a:srgbClr val="1B1B2F"/>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7"/>
          <p:cNvSpPr/>
          <p:nvPr/>
        </p:nvSpPr>
        <p:spPr>
          <a:xfrm>
            <a:off x="9136228" y="2907792"/>
            <a:ext cx="548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800"/>
              <a:buFont typeface="Cambria"/>
              <a:buNone/>
            </a:pPr>
            <a:r>
              <a:rPr b="1" i="0" lang="en-US" sz="1800" u="none" cap="none" strike="noStrike">
                <a:solidFill>
                  <a:srgbClr val="F26522"/>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130" name="Google Shape;130;p7"/>
          <p:cNvSpPr/>
          <p:nvPr/>
        </p:nvSpPr>
        <p:spPr>
          <a:xfrm>
            <a:off x="9136228" y="3310128"/>
            <a:ext cx="2011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Resultado</a:t>
            </a:r>
            <a:endParaRPr b="0" i="0" sz="1450" u="none" cap="none" strike="noStrike">
              <a:solidFill>
                <a:schemeClr val="dk1"/>
              </a:solidFill>
              <a:latin typeface="Calibri"/>
              <a:ea typeface="Calibri"/>
              <a:cs typeface="Calibri"/>
              <a:sym typeface="Calibri"/>
            </a:endParaRPr>
          </a:p>
        </p:txBody>
      </p:sp>
      <p:sp>
        <p:nvSpPr>
          <p:cNvPr id="131" name="Google Shape;131;p7"/>
          <p:cNvSpPr/>
          <p:nvPr/>
        </p:nvSpPr>
        <p:spPr>
          <a:xfrm>
            <a:off x="9136228" y="3703320"/>
            <a:ext cx="2011680" cy="10058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A9ABC0"/>
              </a:buClr>
              <a:buSzPts val="1100"/>
              <a:buFont typeface="Calibri"/>
              <a:buNone/>
            </a:pPr>
            <a:r>
              <a:rPr b="0" i="0" lang="en-US" sz="1100" u="none" cap="none" strike="noStrike">
                <a:solidFill>
                  <a:srgbClr val="A9ABC0"/>
                </a:solidFill>
                <a:latin typeface="Calibri"/>
                <a:ea typeface="Calibri"/>
                <a:cs typeface="Calibri"/>
                <a:sym typeface="Calibri"/>
              </a:rPr>
              <a:t>Solo las preguntas que</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A9ABC0"/>
              </a:buClr>
              <a:buSzPts val="1100"/>
              <a:buFont typeface="Calibri"/>
              <a:buNone/>
            </a:pPr>
            <a:r>
              <a:rPr b="0" i="0" lang="en-US" sz="1100" u="none" cap="none" strike="noStrike">
                <a:solidFill>
                  <a:srgbClr val="A9ABC0"/>
                </a:solidFill>
                <a:latin typeface="Calibri"/>
                <a:ea typeface="Calibri"/>
                <a:cs typeface="Calibri"/>
                <a:sym typeface="Calibri"/>
              </a:rPr>
              <a:t>realmente importan</a:t>
            </a:r>
            <a:endParaRPr b="0" i="0" sz="1100" u="none" cap="none" strike="noStrike">
              <a:solidFill>
                <a:schemeClr val="dk1"/>
              </a:solidFill>
              <a:latin typeface="Calibri"/>
              <a:ea typeface="Calibri"/>
              <a:cs typeface="Calibri"/>
              <a:sym typeface="Calibri"/>
            </a:endParaRPr>
          </a:p>
        </p:txBody>
      </p:sp>
      <p:sp>
        <p:nvSpPr>
          <p:cNvPr id="132" name="Google Shape;132;p7"/>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07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137" name="Shape 137"/>
        <p:cNvGrpSpPr/>
        <p:nvPr/>
      </p:nvGrpSpPr>
      <p:grpSpPr>
        <a:xfrm>
          <a:off x="0" y="0"/>
          <a:ext cx="0" cy="0"/>
          <a:chOff x="0" y="0"/>
          <a:chExt cx="0" cy="0"/>
        </a:xfrm>
      </p:grpSpPr>
      <p:sp>
        <p:nvSpPr>
          <p:cNvPr id="138" name="Google Shape;138;p8"/>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07 · CONSISTENCIA</a:t>
            </a:r>
            <a:endParaRPr b="0" i="0" sz="1200" u="none" cap="none" strike="noStrike">
              <a:solidFill>
                <a:schemeClr val="dk1"/>
              </a:solidFill>
              <a:latin typeface="Calibri"/>
              <a:ea typeface="Calibri"/>
              <a:cs typeface="Calibri"/>
              <a:sym typeface="Calibri"/>
            </a:endParaRPr>
          </a:p>
        </p:txBody>
      </p:sp>
      <p:sp>
        <p:nvSpPr>
          <p:cNvPr id="139" name="Google Shape;139;p8"/>
          <p:cNvSpPr/>
          <p:nvPr/>
        </p:nvSpPr>
        <p:spPr>
          <a:xfrm>
            <a:off x="640080" y="777240"/>
            <a:ext cx="91440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El Patrón se Repite</a:t>
            </a:r>
            <a:endParaRPr b="0" i="0" sz="3200" u="none" cap="none" strike="noStrike">
              <a:solidFill>
                <a:schemeClr val="dk1"/>
              </a:solidFill>
              <a:latin typeface="Calibri"/>
              <a:ea typeface="Calibri"/>
              <a:cs typeface="Calibri"/>
              <a:sym typeface="Calibri"/>
            </a:endParaRPr>
          </a:p>
        </p:txBody>
      </p:sp>
      <p:sp>
        <p:nvSpPr>
          <p:cNvPr id="140" name="Google Shape;140;p8"/>
          <p:cNvSpPr/>
          <p:nvPr/>
        </p:nvSpPr>
        <p:spPr>
          <a:xfrm>
            <a:off x="640080" y="141732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350"/>
              <a:buFont typeface="Calibri"/>
              <a:buNone/>
            </a:pPr>
            <a:r>
              <a:rPr b="0" i="0" lang="en-US" sz="1350" u="none" cap="none" strike="noStrike">
                <a:solidFill>
                  <a:srgbClr val="2E313D"/>
                </a:solidFill>
                <a:latin typeface="Calibri"/>
                <a:ea typeface="Calibri"/>
                <a:cs typeface="Calibri"/>
                <a:sym typeface="Calibri"/>
              </a:rPr>
              <a:t>La misma lógica de filtro en cascada, campos que se refinan entre sí, no se quedó solo en la sección de Preguntas. Se reaplicó en otras áreas de la plataforma, como la búsqueda de Concursos Militares.</a:t>
            </a:r>
            <a:endParaRPr b="0" i="0" sz="1350" u="none" cap="none" strike="noStrike">
              <a:solidFill>
                <a:schemeClr val="dk1"/>
              </a:solidFill>
              <a:latin typeface="Calibri"/>
              <a:ea typeface="Calibri"/>
              <a:cs typeface="Calibri"/>
              <a:sym typeface="Calibri"/>
            </a:endParaRPr>
          </a:p>
        </p:txBody>
      </p:sp>
      <p:sp>
        <p:nvSpPr>
          <p:cNvPr id="141" name="Google Shape;141;p8"/>
          <p:cNvSpPr/>
          <p:nvPr/>
        </p:nvSpPr>
        <p:spPr>
          <a:xfrm>
            <a:off x="640080" y="2194560"/>
            <a:ext cx="5074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50"/>
              <a:buFont typeface="Calibri"/>
              <a:buNone/>
            </a:pPr>
            <a:r>
              <a:rPr b="1" i="0" lang="en-US" sz="1050" u="none" cap="none" strike="noStrike">
                <a:solidFill>
                  <a:srgbClr val="F26522"/>
                </a:solidFill>
                <a:latin typeface="Calibri"/>
                <a:ea typeface="Calibri"/>
                <a:cs typeface="Calibri"/>
                <a:sym typeface="Calibri"/>
              </a:rPr>
              <a:t>PREGUNTAS</a:t>
            </a:r>
            <a:endParaRPr b="0" i="0" sz="1050" u="none" cap="none" strike="noStrike">
              <a:solidFill>
                <a:schemeClr val="dk1"/>
              </a:solidFill>
              <a:latin typeface="Calibri"/>
              <a:ea typeface="Calibri"/>
              <a:cs typeface="Calibri"/>
              <a:sym typeface="Calibri"/>
            </a:endParaRPr>
          </a:p>
        </p:txBody>
      </p:sp>
      <p:sp>
        <p:nvSpPr>
          <p:cNvPr id="142" name="Google Shape;142;p8"/>
          <p:cNvSpPr/>
          <p:nvPr/>
        </p:nvSpPr>
        <p:spPr>
          <a:xfrm>
            <a:off x="585216" y="2459736"/>
            <a:ext cx="5184648" cy="2746534"/>
          </a:xfrm>
          <a:prstGeom prst="roundRect">
            <a:avLst>
              <a:gd fmla="val 1332" name="adj"/>
            </a:avLst>
          </a:prstGeom>
          <a:solidFill>
            <a:srgbClr val="FFFFFF"/>
          </a:solidFill>
          <a:ln cap="flat" cmpd="sng" w="12700">
            <a:solidFill>
              <a:srgbClr val="DEDCD5"/>
            </a:solidFill>
            <a:prstDash val="solid"/>
            <a:round/>
            <a:headEnd len="sm" w="sm" type="none"/>
            <a:tailEnd len="sm" w="sm" type="none"/>
          </a:ln>
          <a:effectLst>
            <a:outerShdw blurRad="127000" rotWithShape="0" algn="bl" dir="54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qconcursos-deck/filtro-questoes.png" id="143" name="Google Shape;143;p8"/>
          <p:cNvPicPr preferRelativeResize="0"/>
          <p:nvPr/>
        </p:nvPicPr>
        <p:blipFill rotWithShape="1">
          <a:blip r:embed="rId3">
            <a:alphaModFix/>
          </a:blip>
          <a:srcRect b="0" l="0" r="0" t="0"/>
          <a:stretch/>
        </p:blipFill>
        <p:spPr>
          <a:xfrm>
            <a:off x="640080" y="2514600"/>
            <a:ext cx="5074920" cy="2636806"/>
          </a:xfrm>
          <a:prstGeom prst="rect">
            <a:avLst/>
          </a:prstGeom>
          <a:noFill/>
          <a:ln>
            <a:noFill/>
          </a:ln>
        </p:spPr>
      </p:pic>
      <p:sp>
        <p:nvSpPr>
          <p:cNvPr id="144" name="Google Shape;144;p8"/>
          <p:cNvSpPr/>
          <p:nvPr/>
        </p:nvSpPr>
        <p:spPr>
          <a:xfrm>
            <a:off x="6035040" y="2194560"/>
            <a:ext cx="5074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50"/>
              <a:buFont typeface="Calibri"/>
              <a:buNone/>
            </a:pPr>
            <a:r>
              <a:rPr b="1" i="0" lang="en-US" sz="1050" u="none" cap="none" strike="noStrike">
                <a:solidFill>
                  <a:srgbClr val="F26522"/>
                </a:solidFill>
                <a:latin typeface="Calibri"/>
                <a:ea typeface="Calibri"/>
                <a:cs typeface="Calibri"/>
                <a:sym typeface="Calibri"/>
              </a:rPr>
              <a:t>CONCURSOS MILITARES</a:t>
            </a:r>
            <a:endParaRPr b="0" i="0" sz="1050" u="none" cap="none" strike="noStrike">
              <a:solidFill>
                <a:schemeClr val="dk1"/>
              </a:solidFill>
              <a:latin typeface="Calibri"/>
              <a:ea typeface="Calibri"/>
              <a:cs typeface="Calibri"/>
              <a:sym typeface="Calibri"/>
            </a:endParaRPr>
          </a:p>
        </p:txBody>
      </p:sp>
      <p:sp>
        <p:nvSpPr>
          <p:cNvPr id="145" name="Google Shape;145;p8"/>
          <p:cNvSpPr/>
          <p:nvPr/>
        </p:nvSpPr>
        <p:spPr>
          <a:xfrm>
            <a:off x="5980176" y="2459736"/>
            <a:ext cx="5184648" cy="2856058"/>
          </a:xfrm>
          <a:prstGeom prst="roundRect">
            <a:avLst>
              <a:gd fmla="val 1281" name="adj"/>
            </a:avLst>
          </a:prstGeom>
          <a:solidFill>
            <a:srgbClr val="FFFFFF"/>
          </a:solidFill>
          <a:ln cap="flat" cmpd="sng" w="12700">
            <a:solidFill>
              <a:srgbClr val="DEDCD5"/>
            </a:solidFill>
            <a:prstDash val="solid"/>
            <a:round/>
            <a:headEnd len="sm" w="sm" type="none"/>
            <a:tailEnd len="sm" w="sm" type="none"/>
          </a:ln>
          <a:effectLst>
            <a:outerShdw blurRad="127000" rotWithShape="0" algn="bl" dir="5400000" dist="38100">
              <a:srgbClr val="000000">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qconcursos-deck/filtro-concursos-militares.png" id="146" name="Google Shape;146;p8"/>
          <p:cNvPicPr preferRelativeResize="0"/>
          <p:nvPr/>
        </p:nvPicPr>
        <p:blipFill rotWithShape="1">
          <a:blip r:embed="rId4">
            <a:alphaModFix/>
          </a:blip>
          <a:srcRect b="0" l="0" r="0" t="0"/>
          <a:stretch/>
        </p:blipFill>
        <p:spPr>
          <a:xfrm>
            <a:off x="6035040" y="2514600"/>
            <a:ext cx="5074920" cy="2746330"/>
          </a:xfrm>
          <a:prstGeom prst="rect">
            <a:avLst/>
          </a:prstGeom>
          <a:noFill/>
          <a:ln>
            <a:noFill/>
          </a:ln>
        </p:spPr>
      </p:pic>
      <p:sp>
        <p:nvSpPr>
          <p:cNvPr id="147" name="Google Shape;147;p8"/>
          <p:cNvSpPr/>
          <p:nvPr/>
        </p:nvSpPr>
        <p:spPr>
          <a:xfrm>
            <a:off x="640080" y="553525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Estado del concurso, región, estado, año, entidad examinadora e institución funcionan como filtros dependientes, el mismo principio de refinamiento progresivo aplicado con facetas diferentes. Un patrón de interacción pensado una vez y reutilizado en varias secciones de la plataforma.</a:t>
            </a:r>
            <a:endParaRPr b="0" i="0" sz="1150" u="none" cap="none" strike="noStrike">
              <a:solidFill>
                <a:schemeClr val="dk1"/>
              </a:solidFill>
              <a:latin typeface="Calibri"/>
              <a:ea typeface="Calibri"/>
              <a:cs typeface="Calibri"/>
              <a:sym typeface="Calibri"/>
            </a:endParaRPr>
          </a:p>
        </p:txBody>
      </p:sp>
      <p:sp>
        <p:nvSpPr>
          <p:cNvPr id="148" name="Google Shape;148;p8"/>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08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153" name="Shape 153"/>
        <p:cNvGrpSpPr/>
        <p:nvPr/>
      </p:nvGrpSpPr>
      <p:grpSpPr>
        <a:xfrm>
          <a:off x="0" y="0"/>
          <a:ext cx="0" cy="0"/>
          <a:chOff x="0" y="0"/>
          <a:chExt cx="0" cy="0"/>
        </a:xfrm>
      </p:grpSpPr>
      <p:sp>
        <p:nvSpPr>
          <p:cNvPr id="154" name="Google Shape;154;p10"/>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09 · RESULTADOS</a:t>
            </a:r>
            <a:endParaRPr b="0" i="0" sz="1200" u="none" cap="none" strike="noStrike">
              <a:solidFill>
                <a:schemeClr val="dk1"/>
              </a:solidFill>
              <a:latin typeface="Calibri"/>
              <a:ea typeface="Calibri"/>
              <a:cs typeface="Calibri"/>
              <a:sym typeface="Calibri"/>
            </a:endParaRPr>
          </a:p>
        </p:txBody>
      </p:sp>
      <p:sp>
        <p:nvSpPr>
          <p:cNvPr id="155" name="Google Shape;155;p10"/>
          <p:cNvSpPr/>
          <p:nvPr/>
        </p:nvSpPr>
        <p:spPr>
          <a:xfrm>
            <a:off x="640080" y="7772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Impacto en el Usuario</a:t>
            </a:r>
            <a:endParaRPr b="0" i="0" sz="3200" u="none" cap="none" strike="noStrike">
              <a:solidFill>
                <a:schemeClr val="dk1"/>
              </a:solidFill>
              <a:latin typeface="Calibri"/>
              <a:ea typeface="Calibri"/>
              <a:cs typeface="Calibri"/>
              <a:sym typeface="Calibri"/>
            </a:endParaRPr>
          </a:p>
        </p:txBody>
      </p:sp>
      <p:sp>
        <p:nvSpPr>
          <p:cNvPr id="156" name="Google Shape;156;p10"/>
          <p:cNvSpPr/>
          <p:nvPr/>
        </p:nvSpPr>
        <p:spPr>
          <a:xfrm>
            <a:off x="64008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0"/>
          <p:cNvSpPr/>
          <p:nvPr/>
        </p:nvSpPr>
        <p:spPr>
          <a:xfrm>
            <a:off x="914400" y="1874520"/>
            <a:ext cx="28803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4000"/>
              <a:buFont typeface="Cambria"/>
              <a:buNone/>
            </a:pPr>
            <a:r>
              <a:rPr b="1" i="0" lang="en-US" sz="4000" u="none" cap="none" strike="noStrike">
                <a:solidFill>
                  <a:srgbClr val="F26522"/>
                </a:solidFill>
                <a:latin typeface="Cambria"/>
                <a:ea typeface="Cambria"/>
                <a:cs typeface="Cambria"/>
                <a:sym typeface="Cambria"/>
              </a:rPr>
              <a:t>~60%</a:t>
            </a:r>
            <a:endParaRPr b="0" i="0" sz="4000" u="none" cap="none" strike="noStrike">
              <a:solidFill>
                <a:schemeClr val="dk1"/>
              </a:solidFill>
              <a:latin typeface="Calibri"/>
              <a:ea typeface="Calibri"/>
              <a:cs typeface="Calibri"/>
              <a:sym typeface="Calibri"/>
            </a:endParaRPr>
          </a:p>
        </p:txBody>
      </p:sp>
      <p:sp>
        <p:nvSpPr>
          <p:cNvPr id="158" name="Google Shape;158;p10"/>
          <p:cNvSpPr/>
          <p:nvPr/>
        </p:nvSpPr>
        <p:spPr>
          <a:xfrm>
            <a:off x="914400" y="2834640"/>
            <a:ext cx="2880360" cy="146304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b="0" i="0" lang="en-US" sz="1200" u="none" cap="none" strike="noStrike">
                <a:solidFill>
                  <a:srgbClr val="2E313D"/>
                </a:solidFill>
                <a:latin typeface="Calibri"/>
                <a:ea typeface="Calibri"/>
                <a:cs typeface="Calibri"/>
                <a:sym typeface="Calibri"/>
              </a:rPr>
              <a:t>menos tiempo estimado para encontrar la pregunta correcta, al filtrar por entidad, cargo y disciplina a la vez en lugar de búsquedas separadas</a:t>
            </a:r>
            <a:endParaRPr b="0" i="0" sz="1200" u="none" cap="none" strike="noStrike">
              <a:solidFill>
                <a:schemeClr val="dk1"/>
              </a:solidFill>
              <a:latin typeface="Calibri"/>
              <a:ea typeface="Calibri"/>
              <a:cs typeface="Calibri"/>
              <a:sym typeface="Calibri"/>
            </a:endParaRPr>
          </a:p>
        </p:txBody>
      </p:sp>
      <p:sp>
        <p:nvSpPr>
          <p:cNvPr id="159" name="Google Shape;159;p10"/>
          <p:cNvSpPr/>
          <p:nvPr/>
        </p:nvSpPr>
        <p:spPr>
          <a:xfrm>
            <a:off x="434340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0"/>
          <p:cNvSpPr/>
          <p:nvPr/>
        </p:nvSpPr>
        <p:spPr>
          <a:xfrm>
            <a:off x="4617720" y="1874520"/>
            <a:ext cx="28803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4000"/>
              <a:buFont typeface="Cambria"/>
              <a:buNone/>
            </a:pPr>
            <a:r>
              <a:rPr b="1" i="0" lang="en-US" sz="4000" u="none" cap="none" strike="noStrike">
                <a:solidFill>
                  <a:srgbClr val="F26522"/>
                </a:solidFill>
                <a:latin typeface="Cambria"/>
                <a:ea typeface="Cambria"/>
                <a:cs typeface="Cambria"/>
                <a:sym typeface="Cambria"/>
              </a:rPr>
              <a:t>12</a:t>
            </a:r>
            <a:endParaRPr b="0" i="0" sz="4000" u="none" cap="none" strike="noStrike">
              <a:solidFill>
                <a:schemeClr val="dk1"/>
              </a:solidFill>
              <a:latin typeface="Calibri"/>
              <a:ea typeface="Calibri"/>
              <a:cs typeface="Calibri"/>
              <a:sym typeface="Calibri"/>
            </a:endParaRPr>
          </a:p>
        </p:txBody>
      </p:sp>
      <p:sp>
        <p:nvSpPr>
          <p:cNvPr id="161" name="Google Shape;161;p10"/>
          <p:cNvSpPr/>
          <p:nvPr/>
        </p:nvSpPr>
        <p:spPr>
          <a:xfrm>
            <a:off x="4617720" y="2834640"/>
            <a:ext cx="2880360" cy="146304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b="0" i="0" lang="en-US" sz="1200" u="none" cap="none" strike="noStrike">
                <a:solidFill>
                  <a:srgbClr val="2E313D"/>
                </a:solidFill>
                <a:latin typeface="Calibri"/>
                <a:ea typeface="Calibri"/>
                <a:cs typeface="Calibri"/>
                <a:sym typeface="Calibri"/>
              </a:rPr>
              <a:t>campos combinables, contra 1 campo de búsqueda por palabra clave en la versión anterior</a:t>
            </a:r>
            <a:endParaRPr b="0" i="0" sz="1200" u="none" cap="none" strike="noStrike">
              <a:solidFill>
                <a:schemeClr val="dk1"/>
              </a:solidFill>
              <a:latin typeface="Calibri"/>
              <a:ea typeface="Calibri"/>
              <a:cs typeface="Calibri"/>
              <a:sym typeface="Calibri"/>
            </a:endParaRPr>
          </a:p>
        </p:txBody>
      </p:sp>
      <p:sp>
        <p:nvSpPr>
          <p:cNvPr id="162" name="Google Shape;162;p10"/>
          <p:cNvSpPr/>
          <p:nvPr/>
        </p:nvSpPr>
        <p:spPr>
          <a:xfrm>
            <a:off x="804672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0"/>
          <p:cNvSpPr/>
          <p:nvPr/>
        </p:nvSpPr>
        <p:spPr>
          <a:xfrm>
            <a:off x="8321040" y="1874520"/>
            <a:ext cx="28803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4000"/>
              <a:buFont typeface="Cambria"/>
              <a:buNone/>
            </a:pPr>
            <a:r>
              <a:rPr b="1" i="0" lang="en-US" sz="4000" u="none" cap="none" strike="noStrike">
                <a:solidFill>
                  <a:srgbClr val="F26522"/>
                </a:solidFill>
                <a:latin typeface="Cambria"/>
                <a:ea typeface="Cambria"/>
                <a:cs typeface="Cambria"/>
                <a:sym typeface="Cambria"/>
              </a:rPr>
              <a:t>1</a:t>
            </a:r>
            <a:endParaRPr b="0" i="0" sz="4000" u="none" cap="none" strike="noStrike">
              <a:solidFill>
                <a:schemeClr val="dk1"/>
              </a:solidFill>
              <a:latin typeface="Calibri"/>
              <a:ea typeface="Calibri"/>
              <a:cs typeface="Calibri"/>
              <a:sym typeface="Calibri"/>
            </a:endParaRPr>
          </a:p>
        </p:txBody>
      </p:sp>
      <p:sp>
        <p:nvSpPr>
          <p:cNvPr id="164" name="Google Shape;164;p10"/>
          <p:cNvSpPr/>
          <p:nvPr/>
        </p:nvSpPr>
        <p:spPr>
          <a:xfrm>
            <a:off x="8321040" y="2834640"/>
            <a:ext cx="2880360" cy="146304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b="0" i="0" lang="en-US" sz="1200" u="none" cap="none" strike="noStrike">
                <a:solidFill>
                  <a:srgbClr val="2E313D"/>
                </a:solidFill>
                <a:latin typeface="Calibri"/>
                <a:ea typeface="Calibri"/>
                <a:cs typeface="Calibri"/>
                <a:sym typeface="Calibri"/>
              </a:rPr>
              <a:t>punto de entrada único, que pasó a concentrar la mayor parte del tráfico de la sección de Preguntas</a:t>
            </a:r>
            <a:endParaRPr b="0" i="0" sz="1200" u="none" cap="none" strike="noStrike">
              <a:solidFill>
                <a:schemeClr val="dk1"/>
              </a:solidFill>
              <a:latin typeface="Calibri"/>
              <a:ea typeface="Calibri"/>
              <a:cs typeface="Calibri"/>
              <a:sym typeface="Calibri"/>
            </a:endParaRPr>
          </a:p>
        </p:txBody>
      </p:sp>
      <p:sp>
        <p:nvSpPr>
          <p:cNvPr id="165" name="Google Shape;165;p10"/>
          <p:cNvSpPr/>
          <p:nvPr/>
        </p:nvSpPr>
        <p:spPr>
          <a:xfrm>
            <a:off x="640080" y="4709160"/>
            <a:ext cx="10881360" cy="868680"/>
          </a:xfrm>
          <a:prstGeom prst="roundRect">
            <a:avLst>
              <a:gd fmla="val 6316" name="adj"/>
            </a:avLst>
          </a:prstGeom>
          <a:solidFill>
            <a:srgbClr val="EFEEEA"/>
          </a:solidFill>
          <a:ln cap="flat" cmpd="sng" w="12700">
            <a:solidFill>
              <a:srgbClr val="DEDC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
          <p:cNvSpPr/>
          <p:nvPr/>
        </p:nvSpPr>
        <p:spPr>
          <a:xfrm>
            <a:off x="914400" y="4709160"/>
            <a:ext cx="10332720" cy="8686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1" lang="en-US" sz="1150" u="none" cap="none" strike="noStrike">
                <a:solidFill>
                  <a:srgbClr val="70737E"/>
                </a:solidFill>
                <a:latin typeface="Calibri"/>
                <a:ea typeface="Calibri"/>
                <a:cs typeface="Calibri"/>
                <a:sym typeface="Calibri"/>
              </a:rPr>
              <a:t>Estimaciones ilustrativas. La plataforma no tenía instrumentación de analytics detallada en el momento del lanzamiento, por lo que estos números representan una lectura plausible de la ganancia, no una medición de época.</a:t>
            </a:r>
            <a:endParaRPr b="0" i="0" sz="1150" u="none" cap="none" strike="noStrike">
              <a:solidFill>
                <a:schemeClr val="dk1"/>
              </a:solidFill>
              <a:latin typeface="Calibri"/>
              <a:ea typeface="Calibri"/>
              <a:cs typeface="Calibri"/>
              <a:sym typeface="Calibri"/>
            </a:endParaRPr>
          </a:p>
        </p:txBody>
      </p:sp>
      <p:sp>
        <p:nvSpPr>
          <p:cNvPr id="167" name="Google Shape;167;p10"/>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10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171" name="Shape 171"/>
        <p:cNvGrpSpPr/>
        <p:nvPr/>
      </p:nvGrpSpPr>
      <p:grpSpPr>
        <a:xfrm>
          <a:off x="0" y="0"/>
          <a:ext cx="0" cy="0"/>
          <a:chOff x="0" y="0"/>
          <a:chExt cx="0" cy="0"/>
        </a:xfrm>
      </p:grpSpPr>
      <p:sp>
        <p:nvSpPr>
          <p:cNvPr id="172" name="Google Shape;172;p9"/>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08 · EVOLUCIÓN</a:t>
            </a:r>
            <a:endParaRPr b="0" i="0" sz="1200" u="none" cap="none" strike="noStrike">
              <a:solidFill>
                <a:schemeClr val="dk1"/>
              </a:solidFill>
              <a:latin typeface="Calibri"/>
              <a:ea typeface="Calibri"/>
              <a:cs typeface="Calibri"/>
              <a:sym typeface="Calibri"/>
            </a:endParaRPr>
          </a:p>
        </p:txBody>
      </p:sp>
      <p:sp>
        <p:nvSpPr>
          <p:cNvPr id="173" name="Google Shape;173;p9"/>
          <p:cNvSpPr/>
          <p:nvPr/>
        </p:nvSpPr>
        <p:spPr>
          <a:xfrm>
            <a:off x="640080" y="7772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Evolución por Pruebas de Usabilidad</a:t>
            </a:r>
            <a:endParaRPr b="0" i="0" sz="3200" u="none" cap="none" strike="noStrike">
              <a:solidFill>
                <a:schemeClr val="dk1"/>
              </a:solidFill>
              <a:latin typeface="Calibri"/>
              <a:ea typeface="Calibri"/>
              <a:cs typeface="Calibri"/>
              <a:sym typeface="Calibri"/>
            </a:endParaRPr>
          </a:p>
        </p:txBody>
      </p:sp>
      <p:sp>
        <p:nvSpPr>
          <p:cNvPr id="174" name="Google Shape;174;p9"/>
          <p:cNvSpPr/>
          <p:nvPr/>
        </p:nvSpPr>
        <p:spPr>
          <a:xfrm>
            <a:off x="64008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9"/>
          <p:cNvSpPr/>
          <p:nvPr/>
        </p:nvSpPr>
        <p:spPr>
          <a:xfrm>
            <a:off x="914400" y="1874523"/>
            <a:ext cx="2880300" cy="49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6522"/>
              </a:buClr>
              <a:buSzPts val="2400"/>
              <a:buFont typeface="Cambria"/>
              <a:buNone/>
            </a:pPr>
            <a:r>
              <a:rPr b="1" i="0" lang="en-US" sz="1800" u="none" cap="none" strike="noStrike">
                <a:solidFill>
                  <a:srgbClr val="F26522"/>
                </a:solidFill>
                <a:latin typeface="Cambria"/>
                <a:ea typeface="Cambria"/>
                <a:cs typeface="Cambria"/>
                <a:sym typeface="Cambria"/>
              </a:rPr>
              <a:t>Guardar filtros</a:t>
            </a:r>
            <a:endParaRPr b="0" i="0" sz="1800" u="none" cap="none" strike="noStrike">
              <a:solidFill>
                <a:schemeClr val="dk1"/>
              </a:solidFill>
              <a:latin typeface="Calibri"/>
              <a:ea typeface="Calibri"/>
              <a:cs typeface="Calibri"/>
              <a:sym typeface="Calibri"/>
            </a:endParaRPr>
          </a:p>
        </p:txBody>
      </p:sp>
      <p:sp>
        <p:nvSpPr>
          <p:cNvPr id="176" name="Google Shape;176;p9"/>
          <p:cNvSpPr/>
          <p:nvPr/>
        </p:nvSpPr>
        <p:spPr>
          <a:xfrm>
            <a:off x="914400" y="2487024"/>
            <a:ext cx="2880300" cy="1810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b="0" i="0" lang="en-US" sz="1200" u="none" cap="none" strike="noStrike">
                <a:solidFill>
                  <a:srgbClr val="2E313D"/>
                </a:solidFill>
                <a:latin typeface="Calibri"/>
                <a:ea typeface="Calibri"/>
                <a:cs typeface="Calibri"/>
                <a:sym typeface="Calibri"/>
              </a:rPr>
              <a:t>Pruebas de usabilidad mostraron que rehacer la misma búsqueda cada vez era un punto de fricción. Guardar el filtro se volvió funcionalidad, y se incluyó una traza visual de los filtros activos (cada uno removible individualmente) para dejar claro qué se estaba aplicando.</a:t>
            </a:r>
            <a:endParaRPr b="0" i="0" sz="1200" u="none" cap="none" strike="noStrike">
              <a:solidFill>
                <a:schemeClr val="dk1"/>
              </a:solidFill>
              <a:latin typeface="Calibri"/>
              <a:ea typeface="Calibri"/>
              <a:cs typeface="Calibri"/>
              <a:sym typeface="Calibri"/>
            </a:endParaRPr>
          </a:p>
        </p:txBody>
      </p:sp>
      <p:sp>
        <p:nvSpPr>
          <p:cNvPr id="177" name="Google Shape;177;p9"/>
          <p:cNvSpPr/>
          <p:nvPr/>
        </p:nvSpPr>
        <p:spPr>
          <a:xfrm>
            <a:off x="434340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9"/>
          <p:cNvSpPr/>
          <p:nvPr/>
        </p:nvSpPr>
        <p:spPr>
          <a:xfrm>
            <a:off x="4617720" y="1874523"/>
            <a:ext cx="2880300" cy="49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6522"/>
              </a:buClr>
              <a:buSzPts val="2400"/>
              <a:buFont typeface="Cambria"/>
              <a:buNone/>
            </a:pPr>
            <a:r>
              <a:rPr b="1" i="0" lang="en-US" sz="1800" u="none" cap="none" strike="noStrike">
                <a:solidFill>
                  <a:srgbClr val="F26522"/>
                </a:solidFill>
                <a:latin typeface="Cambria"/>
                <a:ea typeface="Cambria"/>
                <a:cs typeface="Cambria"/>
                <a:sym typeface="Cambria"/>
              </a:rPr>
              <a:t>Excluir preguntas</a:t>
            </a:r>
            <a:endParaRPr b="0" i="0" sz="1800" u="none" cap="none" strike="noStrike">
              <a:solidFill>
                <a:schemeClr val="dk1"/>
              </a:solidFill>
              <a:latin typeface="Calibri"/>
              <a:ea typeface="Calibri"/>
              <a:cs typeface="Calibri"/>
              <a:sym typeface="Calibri"/>
            </a:endParaRPr>
          </a:p>
        </p:txBody>
      </p:sp>
      <p:sp>
        <p:nvSpPr>
          <p:cNvPr id="179" name="Google Shape;179;p9"/>
          <p:cNvSpPr/>
          <p:nvPr/>
        </p:nvSpPr>
        <p:spPr>
          <a:xfrm>
            <a:off x="4617725" y="2487024"/>
            <a:ext cx="2880300" cy="15501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b="0" i="0" lang="en-US" sz="1200" u="none" cap="none" strike="noStrike">
                <a:solidFill>
                  <a:srgbClr val="2E313D"/>
                </a:solidFill>
                <a:latin typeface="Calibri"/>
                <a:ea typeface="Calibri"/>
                <a:cs typeface="Calibri"/>
                <a:sym typeface="Calibri"/>
              </a:rPr>
              <a:t>Preguntas repetidas, desactualizadas o ya dominadas por el alumno podían eliminarse del resultado, manteniendo el filtro relevante a lo largo del estudio.</a:t>
            </a:r>
            <a:endParaRPr b="0" i="0" sz="1200" u="none" cap="none" strike="noStrike">
              <a:solidFill>
                <a:schemeClr val="dk1"/>
              </a:solidFill>
              <a:latin typeface="Calibri"/>
              <a:ea typeface="Calibri"/>
              <a:cs typeface="Calibri"/>
              <a:sym typeface="Calibri"/>
            </a:endParaRPr>
          </a:p>
        </p:txBody>
      </p:sp>
      <p:sp>
        <p:nvSpPr>
          <p:cNvPr id="180" name="Google Shape;180;p9"/>
          <p:cNvSpPr/>
          <p:nvPr/>
        </p:nvSpPr>
        <p:spPr>
          <a:xfrm>
            <a:off x="804672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9"/>
          <p:cNvSpPr/>
          <p:nvPr/>
        </p:nvSpPr>
        <p:spPr>
          <a:xfrm>
            <a:off x="8321040" y="1874523"/>
            <a:ext cx="2880300" cy="49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6522"/>
              </a:buClr>
              <a:buSzPts val="2400"/>
              <a:buFont typeface="Cambria"/>
              <a:buNone/>
            </a:pPr>
            <a:r>
              <a:rPr b="1" i="0" lang="en-US" sz="1800" u="none" cap="none" strike="noStrike">
                <a:solidFill>
                  <a:srgbClr val="F26522"/>
                </a:solidFill>
                <a:latin typeface="Cambria"/>
                <a:ea typeface="Cambria"/>
                <a:cs typeface="Cambria"/>
                <a:sym typeface="Cambria"/>
              </a:rPr>
              <a:t>Solucionario comentado</a:t>
            </a:r>
            <a:endParaRPr b="0" i="0" sz="1800" u="none" cap="none" strike="noStrike">
              <a:solidFill>
                <a:schemeClr val="dk1"/>
              </a:solidFill>
              <a:latin typeface="Calibri"/>
              <a:ea typeface="Calibri"/>
              <a:cs typeface="Calibri"/>
              <a:sym typeface="Calibri"/>
            </a:endParaRPr>
          </a:p>
        </p:txBody>
      </p:sp>
      <p:sp>
        <p:nvSpPr>
          <p:cNvPr id="182" name="Google Shape;182;p9"/>
          <p:cNvSpPr/>
          <p:nvPr/>
        </p:nvSpPr>
        <p:spPr>
          <a:xfrm>
            <a:off x="8321050" y="2487024"/>
            <a:ext cx="2880300" cy="14511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b="0" i="0" lang="en-US" sz="1200" u="none" cap="none" strike="noStrike">
                <a:solidFill>
                  <a:srgbClr val="2E313D"/>
                </a:solidFill>
                <a:latin typeface="Calibri"/>
                <a:ea typeface="Calibri"/>
                <a:cs typeface="Calibri"/>
                <a:sym typeface="Calibri"/>
              </a:rPr>
              <a:t>Explicación del profesor por pregunta, en video y en texto, para quien prefiere leer o mirar.</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640080" y="4709160"/>
            <a:ext cx="10881360" cy="868680"/>
          </a:xfrm>
          <a:prstGeom prst="roundRect">
            <a:avLst>
              <a:gd fmla="val 6316" name="adj"/>
            </a:avLst>
          </a:prstGeom>
          <a:solidFill>
            <a:srgbClr val="EFEEEA"/>
          </a:solidFill>
          <a:ln cap="flat" cmpd="sng" w="12700">
            <a:solidFill>
              <a:srgbClr val="DEDC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914400" y="4709160"/>
            <a:ext cx="10332720" cy="8686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1" lang="en-US" sz="1150" u="none" cap="none" strike="noStrike">
                <a:solidFill>
                  <a:srgbClr val="70737E"/>
                </a:solidFill>
                <a:latin typeface="Calibri"/>
                <a:ea typeface="Calibri"/>
                <a:cs typeface="Calibri"/>
                <a:sym typeface="Calibri"/>
              </a:rPr>
              <a:t>Tres de las mejoras introducidas después del lanzamiento inicial, priorizadas a partir de pruebas de usabilidad con usuarios reales de la plataforma.</a:t>
            </a:r>
            <a:endParaRPr b="0" i="0" sz="1150" u="none" cap="none" strike="noStrike">
              <a:solidFill>
                <a:schemeClr val="dk1"/>
              </a:solidFill>
              <a:latin typeface="Calibri"/>
              <a:ea typeface="Calibri"/>
              <a:cs typeface="Calibri"/>
              <a:sym typeface="Calibri"/>
            </a:endParaRPr>
          </a:p>
        </p:txBody>
      </p:sp>
      <p:sp>
        <p:nvSpPr>
          <p:cNvPr id="185" name="Google Shape;185;p9"/>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09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190" name="Shape 190"/>
        <p:cNvGrpSpPr/>
        <p:nvPr/>
      </p:nvGrpSpPr>
      <p:grpSpPr>
        <a:xfrm>
          <a:off x="0" y="0"/>
          <a:ext cx="0" cy="0"/>
          <a:chOff x="0" y="0"/>
          <a:chExt cx="0" cy="0"/>
        </a:xfrm>
      </p:grpSpPr>
      <p:sp>
        <p:nvSpPr>
          <p:cNvPr id="191" name="Google Shape;191;p11"/>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10 · PATRÓN DE MERCADO</a:t>
            </a:r>
            <a:endParaRPr b="0" i="0" sz="1200" u="none" cap="none" strike="noStrike">
              <a:solidFill>
                <a:schemeClr val="dk1"/>
              </a:solidFill>
              <a:latin typeface="Calibri"/>
              <a:ea typeface="Calibri"/>
              <a:cs typeface="Calibri"/>
              <a:sym typeface="Calibri"/>
            </a:endParaRPr>
          </a:p>
        </p:txBody>
      </p:sp>
      <p:sp>
        <p:nvSpPr>
          <p:cNvPr id="192" name="Google Shape;192;p11"/>
          <p:cNvSpPr/>
          <p:nvPr/>
        </p:nvSpPr>
        <p:spPr>
          <a:xfrm>
            <a:off x="640080" y="7772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Impacto en el Mercado</a:t>
            </a:r>
            <a:endParaRPr b="0" i="0" sz="3200" u="none" cap="none" strike="noStrike">
              <a:solidFill>
                <a:schemeClr val="dk1"/>
              </a:solidFill>
              <a:latin typeface="Calibri"/>
              <a:ea typeface="Calibri"/>
              <a:cs typeface="Calibri"/>
              <a:sym typeface="Calibri"/>
            </a:endParaRPr>
          </a:p>
        </p:txBody>
      </p:sp>
      <p:sp>
        <p:nvSpPr>
          <p:cNvPr id="193" name="Google Shape;193;p11"/>
          <p:cNvSpPr/>
          <p:nvPr/>
        </p:nvSpPr>
        <p:spPr>
          <a:xfrm>
            <a:off x="640080" y="1600200"/>
            <a:ext cx="6035040" cy="2103120"/>
          </a:xfrm>
          <a:prstGeom prst="rect">
            <a:avLst/>
          </a:prstGeom>
          <a:noFill/>
          <a:ln>
            <a:noFill/>
          </a:ln>
        </p:spPr>
        <p:txBody>
          <a:bodyPr anchorCtr="0" anchor="ctr" bIns="0" lIns="0" spcFirstLastPara="1" rIns="0" wrap="square" tIns="0">
            <a:noAutofit/>
          </a:bodyPr>
          <a:lstStyle/>
          <a:p>
            <a:pPr indent="0" lvl="0" marL="0" marR="0" rtl="0" algn="l">
              <a:lnSpc>
                <a:spcPct val="153333"/>
              </a:lnSpc>
              <a:spcBef>
                <a:spcPts val="0"/>
              </a:spcBef>
              <a:spcAft>
                <a:spcPts val="0"/>
              </a:spcAft>
              <a:buClr>
                <a:srgbClr val="A9ABC0"/>
              </a:buClr>
              <a:buSzPts val="1500"/>
              <a:buFont typeface="Calibri"/>
              <a:buNone/>
            </a:pPr>
            <a:r>
              <a:rPr b="0" i="0" lang="en-US" sz="1500" u="none" cap="none" strike="noStrike">
                <a:solidFill>
                  <a:srgbClr val="A9ABC0"/>
                </a:solidFill>
                <a:latin typeface="Calibri"/>
                <a:ea typeface="Calibri"/>
                <a:cs typeface="Calibri"/>
                <a:sym typeface="Calibri"/>
              </a:rPr>
              <a:t>El filtro multicriterio en cascada dejó de ser un diferencial puntual de QConcursos y se convirtió en referencia entre plataformas de preparación para concursos en los años siguientes, con competidores adoptando lógicas de filtro similares.</a:t>
            </a:r>
            <a:endParaRPr b="0" i="0" sz="1500" u="none" cap="none" strike="noStrike">
              <a:solidFill>
                <a:schemeClr val="dk1"/>
              </a:solidFill>
              <a:latin typeface="Calibri"/>
              <a:ea typeface="Calibri"/>
              <a:cs typeface="Calibri"/>
              <a:sym typeface="Calibri"/>
            </a:endParaRPr>
          </a:p>
        </p:txBody>
      </p:sp>
      <p:sp>
        <p:nvSpPr>
          <p:cNvPr id="194" name="Google Shape;194;p11"/>
          <p:cNvSpPr/>
          <p:nvPr/>
        </p:nvSpPr>
        <p:spPr>
          <a:xfrm>
            <a:off x="640080" y="3749040"/>
            <a:ext cx="2743200" cy="1280160"/>
          </a:xfrm>
          <a:prstGeom prst="roundRect">
            <a:avLst>
              <a:gd fmla="val 4286" name="adj"/>
            </a:avLst>
          </a:prstGeom>
          <a:solidFill>
            <a:srgbClr val="2424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1"/>
          <p:cNvSpPr/>
          <p:nvPr/>
        </p:nvSpPr>
        <p:spPr>
          <a:xfrm>
            <a:off x="822960" y="388620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000"/>
              <a:buFont typeface="Calibri"/>
              <a:buNone/>
            </a:pPr>
            <a:r>
              <a:rPr b="1" i="0" lang="en-US" sz="1000" u="none" cap="none" strike="noStrike">
                <a:solidFill>
                  <a:srgbClr val="A9ABC0"/>
                </a:solidFill>
                <a:latin typeface="Calibri"/>
                <a:ea typeface="Calibri"/>
                <a:cs typeface="Calibri"/>
                <a:sym typeface="Calibri"/>
              </a:rPr>
              <a:t>ANTES</a:t>
            </a:r>
            <a:endParaRPr b="0" i="0" sz="1000" u="none" cap="none" strike="noStrike">
              <a:solidFill>
                <a:schemeClr val="dk1"/>
              </a:solidFill>
              <a:latin typeface="Calibri"/>
              <a:ea typeface="Calibri"/>
              <a:cs typeface="Calibri"/>
              <a:sym typeface="Calibri"/>
            </a:endParaRPr>
          </a:p>
        </p:txBody>
      </p:sp>
      <p:sp>
        <p:nvSpPr>
          <p:cNvPr id="196" name="Google Shape;196;p11"/>
          <p:cNvSpPr/>
          <p:nvPr/>
        </p:nvSpPr>
        <p:spPr>
          <a:xfrm>
            <a:off x="822960" y="4160520"/>
            <a:ext cx="2377440" cy="731520"/>
          </a:xfrm>
          <a:prstGeom prst="rect">
            <a:avLst/>
          </a:prstGeom>
          <a:noFill/>
          <a:ln>
            <a:noFill/>
          </a:ln>
        </p:spPr>
        <p:txBody>
          <a:bodyPr anchorCtr="0" anchor="ctr" bIns="0" lIns="0" spcFirstLastPara="1" rIns="0" wrap="square" tIns="0">
            <a:noAutofit/>
          </a:bodyPr>
          <a:lstStyle/>
          <a:p>
            <a:pPr indent="0" lvl="0" marL="0" marR="0" rtl="0" algn="l">
              <a:lnSpc>
                <a:spcPct val="123076"/>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Búsqueda por</a:t>
            </a:r>
            <a:endParaRPr b="0" i="0" sz="1300" u="none" cap="none" strike="noStrike">
              <a:solidFill>
                <a:schemeClr val="dk1"/>
              </a:solidFill>
              <a:latin typeface="Calibri"/>
              <a:ea typeface="Calibri"/>
              <a:cs typeface="Calibri"/>
              <a:sym typeface="Calibri"/>
            </a:endParaRPr>
          </a:p>
          <a:p>
            <a:pPr indent="0" lvl="0" marL="0" marR="0" rtl="0" algn="l">
              <a:lnSpc>
                <a:spcPct val="123076"/>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palabra clave</a:t>
            </a:r>
            <a:endParaRPr b="0" i="0" sz="1300" u="none" cap="none" strike="noStrike">
              <a:solidFill>
                <a:schemeClr val="dk1"/>
              </a:solidFill>
              <a:latin typeface="Calibri"/>
              <a:ea typeface="Calibri"/>
              <a:cs typeface="Calibri"/>
              <a:sym typeface="Calibri"/>
            </a:endParaRPr>
          </a:p>
        </p:txBody>
      </p:sp>
      <p:sp>
        <p:nvSpPr>
          <p:cNvPr id="197" name="Google Shape;197;p11"/>
          <p:cNvSpPr/>
          <p:nvPr/>
        </p:nvSpPr>
        <p:spPr>
          <a:xfrm>
            <a:off x="3429000" y="4160520"/>
            <a:ext cx="5486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6522"/>
              </a:buClr>
              <a:buSzPts val="1800"/>
              <a:buFont typeface="Calibri"/>
              <a:buNone/>
            </a:pPr>
            <a:r>
              <a:rPr b="0" i="0" lang="en-US" sz="1800" u="none" cap="none" strike="noStrike">
                <a:solidFill>
                  <a:srgbClr val="F26522"/>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98" name="Google Shape;198;p11"/>
          <p:cNvSpPr/>
          <p:nvPr/>
        </p:nvSpPr>
        <p:spPr>
          <a:xfrm>
            <a:off x="4023360" y="3749040"/>
            <a:ext cx="2743200" cy="1280160"/>
          </a:xfrm>
          <a:prstGeom prst="roundRect">
            <a:avLst>
              <a:gd fmla="val 4286" name="adj"/>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1"/>
          <p:cNvSpPr/>
          <p:nvPr/>
        </p:nvSpPr>
        <p:spPr>
          <a:xfrm>
            <a:off x="4206240" y="388620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B2F"/>
              </a:buClr>
              <a:buSzPts val="1000"/>
              <a:buFont typeface="Calibri"/>
              <a:buNone/>
            </a:pPr>
            <a:r>
              <a:rPr b="1" i="0" lang="en-US" sz="1000" u="none" cap="none" strike="noStrike">
                <a:solidFill>
                  <a:srgbClr val="1B1B2F"/>
                </a:solidFill>
                <a:latin typeface="Calibri"/>
                <a:ea typeface="Calibri"/>
                <a:cs typeface="Calibri"/>
                <a:sym typeface="Calibri"/>
              </a:rPr>
              <a:t>DESPUÉS</a:t>
            </a:r>
            <a:endParaRPr b="0" i="0" sz="1000" u="none" cap="none" strike="noStrike">
              <a:solidFill>
                <a:schemeClr val="dk1"/>
              </a:solidFill>
              <a:latin typeface="Calibri"/>
              <a:ea typeface="Calibri"/>
              <a:cs typeface="Calibri"/>
              <a:sym typeface="Calibri"/>
            </a:endParaRPr>
          </a:p>
        </p:txBody>
      </p:sp>
      <p:sp>
        <p:nvSpPr>
          <p:cNvPr id="200" name="Google Shape;200;p11"/>
          <p:cNvSpPr/>
          <p:nvPr/>
        </p:nvSpPr>
        <p:spPr>
          <a:xfrm>
            <a:off x="4206240" y="4160520"/>
            <a:ext cx="2377440" cy="731520"/>
          </a:xfrm>
          <a:prstGeom prst="rect">
            <a:avLst/>
          </a:prstGeom>
          <a:noFill/>
          <a:ln>
            <a:noFill/>
          </a:ln>
        </p:spPr>
        <p:txBody>
          <a:bodyPr anchorCtr="0" anchor="ctr" bIns="0" lIns="0" spcFirstLastPara="1" rIns="0" wrap="square" tIns="0">
            <a:noAutofit/>
          </a:bodyPr>
          <a:lstStyle/>
          <a:p>
            <a:pPr indent="0" lvl="0" marL="0" marR="0" rtl="0" algn="l">
              <a:lnSpc>
                <a:spcPct val="123076"/>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Filtro en cascada</a:t>
            </a:r>
            <a:endParaRPr b="0" i="0" sz="1300" u="none" cap="none" strike="noStrike">
              <a:solidFill>
                <a:schemeClr val="dk1"/>
              </a:solidFill>
              <a:latin typeface="Calibri"/>
              <a:ea typeface="Calibri"/>
              <a:cs typeface="Calibri"/>
              <a:sym typeface="Calibri"/>
            </a:endParaRPr>
          </a:p>
          <a:p>
            <a:pPr indent="0" lvl="0" marL="0" marR="0" rtl="0" algn="l">
              <a:lnSpc>
                <a:spcPct val="123076"/>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 12 campos</a:t>
            </a:r>
            <a:endParaRPr b="0" i="0" sz="1300" u="none" cap="none" strike="noStrike">
              <a:solidFill>
                <a:schemeClr val="dk1"/>
              </a:solidFill>
              <a:latin typeface="Calibri"/>
              <a:ea typeface="Calibri"/>
              <a:cs typeface="Calibri"/>
              <a:sym typeface="Calibri"/>
            </a:endParaRPr>
          </a:p>
        </p:txBody>
      </p:sp>
      <p:sp>
        <p:nvSpPr>
          <p:cNvPr id="201" name="Google Shape;201;p11"/>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9ABC0"/>
              </a:buClr>
              <a:buSzPts val="900"/>
              <a:buFont typeface="Calibri"/>
              <a:buNone/>
            </a:pPr>
            <a:r>
              <a:rPr b="0" i="0" lang="en-US" sz="900" u="none" cap="none" strike="noStrike">
                <a:solidFill>
                  <a:srgbClr val="A9ABC0"/>
                </a:solidFill>
                <a:latin typeface="Calibri"/>
                <a:ea typeface="Calibri"/>
                <a:cs typeface="Calibri"/>
                <a:sym typeface="Calibri"/>
              </a:rPr>
              <a:t>11 / 14</a:t>
            </a:r>
            <a:endParaRPr b="0" i="0" sz="900" u="none" cap="none" strike="noStrike">
              <a:solidFill>
                <a:schemeClr val="dk1"/>
              </a:solidFill>
              <a:latin typeface="Calibri"/>
              <a:ea typeface="Calibri"/>
              <a:cs typeface="Calibri"/>
              <a:sym typeface="Calibri"/>
            </a:endParaRPr>
          </a:p>
        </p:txBody>
      </p:sp>
      <p:pic>
        <p:nvPicPr>
          <p:cNvPr id="202" name="Google Shape;202;p11"/>
          <p:cNvPicPr preferRelativeResize="0"/>
          <p:nvPr/>
        </p:nvPicPr>
        <p:blipFill rotWithShape="1">
          <a:blip r:embed="rId3">
            <a:alphaModFix/>
          </a:blip>
          <a:srcRect b="0" l="0" r="0" t="0"/>
          <a:stretch/>
        </p:blipFill>
        <p:spPr>
          <a:xfrm>
            <a:off x="7205225" y="3176574"/>
            <a:ext cx="4597298" cy="1814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207" name="Shape 207"/>
        <p:cNvGrpSpPr/>
        <p:nvPr/>
      </p:nvGrpSpPr>
      <p:grpSpPr>
        <a:xfrm>
          <a:off x="0" y="0"/>
          <a:ext cx="0" cy="0"/>
          <a:chOff x="0" y="0"/>
          <a:chExt cx="0" cy="0"/>
        </a:xfrm>
      </p:grpSpPr>
      <p:sp>
        <p:nvSpPr>
          <p:cNvPr id="208" name="Google Shape;208;p12"/>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11 · SALIDA</a:t>
            </a:r>
            <a:endParaRPr b="0" i="0" sz="1200" u="none" cap="none" strike="noStrike">
              <a:solidFill>
                <a:schemeClr val="dk1"/>
              </a:solidFill>
              <a:latin typeface="Calibri"/>
              <a:ea typeface="Calibri"/>
              <a:cs typeface="Calibri"/>
              <a:sym typeface="Calibri"/>
            </a:endParaRPr>
          </a:p>
        </p:txBody>
      </p:sp>
      <p:sp>
        <p:nvSpPr>
          <p:cNvPr id="209" name="Google Shape;209;p12"/>
          <p:cNvSpPr/>
          <p:nvPr/>
        </p:nvSpPr>
        <p:spPr>
          <a:xfrm>
            <a:off x="640080" y="777240"/>
            <a:ext cx="91440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El Resultado del Negocio</a:t>
            </a:r>
            <a:endParaRPr b="0" i="0" sz="3200" u="none" cap="none" strike="noStrike">
              <a:solidFill>
                <a:schemeClr val="dk1"/>
              </a:solidFill>
              <a:latin typeface="Calibri"/>
              <a:ea typeface="Calibri"/>
              <a:cs typeface="Calibri"/>
              <a:sym typeface="Calibri"/>
            </a:endParaRPr>
          </a:p>
        </p:txBody>
      </p:sp>
      <p:sp>
        <p:nvSpPr>
          <p:cNvPr id="210" name="Google Shape;210;p12"/>
          <p:cNvSpPr/>
          <p:nvPr/>
        </p:nvSpPr>
        <p:spPr>
          <a:xfrm>
            <a:off x="640080" y="1600200"/>
            <a:ext cx="73152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5400"/>
              <a:buFont typeface="Cambria"/>
              <a:buNone/>
            </a:pPr>
            <a:r>
              <a:rPr b="1" i="0" lang="en-US" sz="5400" u="none" cap="none" strike="noStrike">
                <a:solidFill>
                  <a:srgbClr val="F26522"/>
                </a:solidFill>
                <a:latin typeface="Cambria"/>
                <a:ea typeface="Cambria"/>
                <a:cs typeface="Cambria"/>
                <a:sym typeface="Cambria"/>
              </a:rPr>
              <a:t>R$208 millones</a:t>
            </a:r>
            <a:endParaRPr b="0" i="0" sz="5400" u="none" cap="none" strike="noStrike">
              <a:solidFill>
                <a:schemeClr val="dk1"/>
              </a:solidFill>
              <a:latin typeface="Calibri"/>
              <a:ea typeface="Calibri"/>
              <a:cs typeface="Calibri"/>
              <a:sym typeface="Calibri"/>
            </a:endParaRPr>
          </a:p>
        </p:txBody>
      </p:sp>
      <p:sp>
        <p:nvSpPr>
          <p:cNvPr id="211" name="Google Shape;211;p12"/>
          <p:cNvSpPr/>
          <p:nvPr/>
        </p:nvSpPr>
        <p:spPr>
          <a:xfrm>
            <a:off x="640080" y="2606040"/>
            <a:ext cx="6675120" cy="822960"/>
          </a:xfrm>
          <a:prstGeom prst="rect">
            <a:avLst/>
          </a:prstGeom>
          <a:noFill/>
          <a:ln>
            <a:noFill/>
          </a:ln>
        </p:spPr>
        <p:txBody>
          <a:bodyPr anchorCtr="0" anchor="ctr" bIns="0" lIns="0" spcFirstLastPara="1" rIns="0" wrap="square" tIns="0">
            <a:noAutofit/>
          </a:bodyPr>
          <a:lstStyle/>
          <a:p>
            <a:pPr indent="0" lvl="0" marL="0" marR="0" rtl="0" algn="l">
              <a:lnSpc>
                <a:spcPct val="131034"/>
              </a:lnSpc>
              <a:spcBef>
                <a:spcPts val="0"/>
              </a:spcBef>
              <a:spcAft>
                <a:spcPts val="0"/>
              </a:spcAft>
              <a:buClr>
                <a:srgbClr val="A9ABC0"/>
              </a:buClr>
              <a:buSzPts val="1450"/>
              <a:buFont typeface="Calibri"/>
              <a:buNone/>
            </a:pPr>
            <a:r>
              <a:rPr b="0" i="0" lang="en-US" sz="1450" u="none" cap="none" strike="noStrike">
                <a:solidFill>
                  <a:srgbClr val="A9ABC0"/>
                </a:solidFill>
                <a:latin typeface="Calibri"/>
                <a:ea typeface="Calibri"/>
                <a:cs typeface="Calibri"/>
                <a:sym typeface="Calibri"/>
              </a:rPr>
              <a:t>Valor de la adquisición de QConcursos por el Grupo Yduqs (dueño de Estácio, IBMEC y Damásio), anunciada a inicios de 2020.</a:t>
            </a:r>
            <a:endParaRPr b="0" i="0" sz="1450" u="none" cap="none" strike="noStrike">
              <a:solidFill>
                <a:schemeClr val="dk1"/>
              </a:solidFill>
              <a:latin typeface="Calibri"/>
              <a:ea typeface="Calibri"/>
              <a:cs typeface="Calibri"/>
              <a:sym typeface="Calibri"/>
            </a:endParaRPr>
          </a:p>
        </p:txBody>
      </p:sp>
      <p:sp>
        <p:nvSpPr>
          <p:cNvPr id="212" name="Google Shape;212;p12"/>
          <p:cNvSpPr/>
          <p:nvPr/>
        </p:nvSpPr>
        <p:spPr>
          <a:xfrm>
            <a:off x="640080" y="3611880"/>
            <a:ext cx="6675120" cy="164592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A9ABC0"/>
              </a:buClr>
              <a:buSzPts val="1250"/>
              <a:buFont typeface="Calibri"/>
              <a:buNone/>
            </a:pPr>
            <a:r>
              <a:rPr b="0" i="1" lang="en-US" sz="1250" u="none" cap="none" strike="noStrike">
                <a:solidFill>
                  <a:srgbClr val="A9ABC0"/>
                </a:solidFill>
                <a:latin typeface="Calibri"/>
                <a:ea typeface="Calibri"/>
                <a:cs typeface="Calibri"/>
                <a:sym typeface="Calibri"/>
              </a:rPr>
              <a:t>El rediseño del filtro de preguntas, y el trabajo más amplio de diseño de esa fase, formaron parte de la maduración de producto que ayudó a preparar la plataforma para esa adquisición. No fue la causa aislada del valor pagado, pero fue parte medible de la historia de cómo el producto evolucionó de una herramienta funcional a una plataforma referente de categoría.</a:t>
            </a:r>
            <a:endParaRPr b="0" i="0" sz="1250" u="none" cap="none" strike="noStrike">
              <a:solidFill>
                <a:schemeClr val="dk1"/>
              </a:solidFill>
              <a:latin typeface="Calibri"/>
              <a:ea typeface="Calibri"/>
              <a:cs typeface="Calibri"/>
              <a:sym typeface="Calibri"/>
            </a:endParaRPr>
          </a:p>
        </p:txBody>
      </p:sp>
      <p:cxnSp>
        <p:nvCxnSpPr>
          <p:cNvPr id="213" name="Google Shape;213;p12"/>
          <p:cNvCxnSpPr/>
          <p:nvPr/>
        </p:nvCxnSpPr>
        <p:spPr>
          <a:xfrm>
            <a:off x="7498080" y="5513832"/>
            <a:ext cx="3931920" cy="0"/>
          </a:xfrm>
          <a:prstGeom prst="straightConnector1">
            <a:avLst/>
          </a:prstGeom>
          <a:noFill/>
          <a:ln cap="flat" cmpd="sng" w="12700">
            <a:solidFill>
              <a:srgbClr val="3A3A52"/>
            </a:solidFill>
            <a:prstDash val="solid"/>
            <a:round/>
            <a:headEnd len="sm" w="sm" type="none"/>
            <a:tailEnd len="sm" w="sm" type="none"/>
          </a:ln>
        </p:spPr>
      </p:cxnSp>
      <p:sp>
        <p:nvSpPr>
          <p:cNvPr id="214" name="Google Shape;214;p12"/>
          <p:cNvSpPr/>
          <p:nvPr/>
        </p:nvSpPr>
        <p:spPr>
          <a:xfrm>
            <a:off x="7315200" y="1600200"/>
            <a:ext cx="4206240" cy="4206240"/>
          </a:xfrm>
          <a:prstGeom prst="roundRect">
            <a:avLst>
              <a:gd fmla="val 1739" name="adj"/>
            </a:avLst>
          </a:prstGeom>
          <a:solidFill>
            <a:srgbClr val="2424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2"/>
          <p:cNvSpPr/>
          <p:nvPr/>
        </p:nvSpPr>
        <p:spPr>
          <a:xfrm>
            <a:off x="7589520" y="1874520"/>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00"/>
              <a:buFont typeface="Calibri"/>
              <a:buNone/>
            </a:pPr>
            <a:r>
              <a:rPr b="1" i="0" lang="en-US" sz="1000" u="none" cap="none" strike="noStrike">
                <a:solidFill>
                  <a:srgbClr val="F26522"/>
                </a:solidFill>
                <a:latin typeface="Calibri"/>
                <a:ea typeface="Calibri"/>
                <a:cs typeface="Calibri"/>
                <a:sym typeface="Calibri"/>
              </a:rPr>
              <a:t>LÍNEA DE TIEMPO</a:t>
            </a:r>
            <a:endParaRPr b="0" i="0" sz="1000" u="none" cap="none" strike="noStrike">
              <a:solidFill>
                <a:schemeClr val="dk1"/>
              </a:solidFill>
              <a:latin typeface="Calibri"/>
              <a:ea typeface="Calibri"/>
              <a:cs typeface="Calibri"/>
              <a:sym typeface="Calibri"/>
            </a:endParaRPr>
          </a:p>
        </p:txBody>
      </p:sp>
      <p:sp>
        <p:nvSpPr>
          <p:cNvPr id="216" name="Google Shape;216;p12"/>
          <p:cNvSpPr/>
          <p:nvPr/>
        </p:nvSpPr>
        <p:spPr>
          <a:xfrm>
            <a:off x="7589520" y="2377440"/>
            <a:ext cx="1005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2014</a:t>
            </a:r>
            <a:endParaRPr b="0" i="0" sz="1800" u="none" cap="none" strike="noStrike">
              <a:solidFill>
                <a:schemeClr val="dk1"/>
              </a:solidFill>
              <a:latin typeface="Calibri"/>
              <a:ea typeface="Calibri"/>
              <a:cs typeface="Calibri"/>
              <a:sym typeface="Calibri"/>
            </a:endParaRPr>
          </a:p>
        </p:txBody>
      </p:sp>
      <p:sp>
        <p:nvSpPr>
          <p:cNvPr id="217" name="Google Shape;217;p12"/>
          <p:cNvSpPr/>
          <p:nvPr/>
        </p:nvSpPr>
        <p:spPr>
          <a:xfrm>
            <a:off x="8686800" y="2414016"/>
            <a:ext cx="2651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300"/>
              <a:buFont typeface="Calibri"/>
              <a:buNone/>
            </a:pPr>
            <a:r>
              <a:rPr b="0" i="0" lang="en-US" sz="1300" u="none" cap="none" strike="noStrike">
                <a:solidFill>
                  <a:srgbClr val="A9ABC0"/>
                </a:solidFill>
                <a:latin typeface="Calibri"/>
                <a:ea typeface="Calibri"/>
                <a:cs typeface="Calibri"/>
                <a:sym typeface="Calibri"/>
              </a:rPr>
              <a:t>~600k usuarios</a:t>
            </a:r>
            <a:endParaRPr b="0" i="0" sz="1300" u="none" cap="none" strike="noStrike">
              <a:solidFill>
                <a:schemeClr val="dk1"/>
              </a:solidFill>
              <a:latin typeface="Calibri"/>
              <a:ea typeface="Calibri"/>
              <a:cs typeface="Calibri"/>
              <a:sym typeface="Calibri"/>
            </a:endParaRPr>
          </a:p>
        </p:txBody>
      </p:sp>
      <p:sp>
        <p:nvSpPr>
          <p:cNvPr id="218" name="Google Shape;218;p12"/>
          <p:cNvSpPr/>
          <p:nvPr/>
        </p:nvSpPr>
        <p:spPr>
          <a:xfrm>
            <a:off x="7589520" y="3200400"/>
            <a:ext cx="1005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2017</a:t>
            </a:r>
            <a:endParaRPr b="0" i="0" sz="1800" u="none" cap="none" strike="noStrike">
              <a:solidFill>
                <a:schemeClr val="dk1"/>
              </a:solidFill>
              <a:latin typeface="Calibri"/>
              <a:ea typeface="Calibri"/>
              <a:cs typeface="Calibri"/>
              <a:sym typeface="Calibri"/>
            </a:endParaRPr>
          </a:p>
        </p:txBody>
      </p:sp>
      <p:sp>
        <p:nvSpPr>
          <p:cNvPr id="219" name="Google Shape;219;p12"/>
          <p:cNvSpPr/>
          <p:nvPr/>
        </p:nvSpPr>
        <p:spPr>
          <a:xfrm>
            <a:off x="8686800" y="3236976"/>
            <a:ext cx="2651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300"/>
              <a:buFont typeface="Calibri"/>
              <a:buNone/>
            </a:pPr>
            <a:r>
              <a:rPr b="0" i="0" lang="en-US" sz="1300" u="none" cap="none" strike="noStrike">
                <a:solidFill>
                  <a:srgbClr val="A9ABC0"/>
                </a:solidFill>
                <a:latin typeface="Calibri"/>
                <a:ea typeface="Calibri"/>
                <a:cs typeface="Calibri"/>
                <a:sym typeface="Calibri"/>
              </a:rPr>
              <a:t>3,75M alumnos</a:t>
            </a:r>
            <a:endParaRPr b="0" i="0" sz="1300" u="none" cap="none" strike="noStrike">
              <a:solidFill>
                <a:schemeClr val="dk1"/>
              </a:solidFill>
              <a:latin typeface="Calibri"/>
              <a:ea typeface="Calibri"/>
              <a:cs typeface="Calibri"/>
              <a:sym typeface="Calibri"/>
            </a:endParaRPr>
          </a:p>
        </p:txBody>
      </p:sp>
      <p:sp>
        <p:nvSpPr>
          <p:cNvPr id="220" name="Google Shape;220;p12"/>
          <p:cNvSpPr/>
          <p:nvPr/>
        </p:nvSpPr>
        <p:spPr>
          <a:xfrm>
            <a:off x="7589520" y="4023360"/>
            <a:ext cx="1005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2019</a:t>
            </a:r>
            <a:endParaRPr b="0" i="0" sz="1800" u="none" cap="none" strike="noStrike">
              <a:solidFill>
                <a:schemeClr val="dk1"/>
              </a:solidFill>
              <a:latin typeface="Calibri"/>
              <a:ea typeface="Calibri"/>
              <a:cs typeface="Calibri"/>
              <a:sym typeface="Calibri"/>
            </a:endParaRPr>
          </a:p>
        </p:txBody>
      </p:sp>
      <p:sp>
        <p:nvSpPr>
          <p:cNvPr id="221" name="Google Shape;221;p12"/>
          <p:cNvSpPr/>
          <p:nvPr/>
        </p:nvSpPr>
        <p:spPr>
          <a:xfrm>
            <a:off x="8686800" y="4059936"/>
            <a:ext cx="2651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300"/>
              <a:buFont typeface="Calibri"/>
              <a:buNone/>
            </a:pPr>
            <a:r>
              <a:rPr b="0" i="0" lang="en-US" sz="1300" u="none" cap="none" strike="noStrike">
                <a:solidFill>
                  <a:srgbClr val="A9ABC0"/>
                </a:solidFill>
                <a:latin typeface="Calibri"/>
                <a:ea typeface="Calibri"/>
                <a:cs typeface="Calibri"/>
                <a:sym typeface="Calibri"/>
              </a:rPr>
              <a:t>10M+ usuarios</a:t>
            </a:r>
            <a:endParaRPr b="0" i="0" sz="1300" u="none" cap="none" strike="noStrike">
              <a:solidFill>
                <a:schemeClr val="dk1"/>
              </a:solidFill>
              <a:latin typeface="Calibri"/>
              <a:ea typeface="Calibri"/>
              <a:cs typeface="Calibri"/>
              <a:sym typeface="Calibri"/>
            </a:endParaRPr>
          </a:p>
        </p:txBody>
      </p:sp>
      <p:sp>
        <p:nvSpPr>
          <p:cNvPr id="222" name="Google Shape;222;p12"/>
          <p:cNvSpPr/>
          <p:nvPr/>
        </p:nvSpPr>
        <p:spPr>
          <a:xfrm>
            <a:off x="7589520" y="4846320"/>
            <a:ext cx="1005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2020</a:t>
            </a:r>
            <a:endParaRPr b="0" i="0" sz="1800" u="none" cap="none" strike="noStrike">
              <a:solidFill>
                <a:schemeClr val="dk1"/>
              </a:solidFill>
              <a:latin typeface="Calibri"/>
              <a:ea typeface="Calibri"/>
              <a:cs typeface="Calibri"/>
              <a:sym typeface="Calibri"/>
            </a:endParaRPr>
          </a:p>
        </p:txBody>
      </p:sp>
      <p:sp>
        <p:nvSpPr>
          <p:cNvPr id="223" name="Google Shape;223;p12"/>
          <p:cNvSpPr/>
          <p:nvPr/>
        </p:nvSpPr>
        <p:spPr>
          <a:xfrm>
            <a:off x="8686800" y="4882896"/>
            <a:ext cx="2651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BC0"/>
              </a:buClr>
              <a:buSzPts val="1300"/>
              <a:buFont typeface="Calibri"/>
              <a:buNone/>
            </a:pPr>
            <a:r>
              <a:rPr b="0" i="0" lang="en-US" sz="1300" u="none" cap="none" strike="noStrike">
                <a:solidFill>
                  <a:srgbClr val="A9ABC0"/>
                </a:solidFill>
                <a:latin typeface="Calibri"/>
                <a:ea typeface="Calibri"/>
                <a:cs typeface="Calibri"/>
                <a:sym typeface="Calibri"/>
              </a:rPr>
              <a:t>R$208M · adquisición</a:t>
            </a:r>
            <a:endParaRPr b="0" i="0" sz="1300" u="none" cap="none" strike="noStrike">
              <a:solidFill>
                <a:schemeClr val="dk1"/>
              </a:solidFill>
              <a:latin typeface="Calibri"/>
              <a:ea typeface="Calibri"/>
              <a:cs typeface="Calibri"/>
              <a:sym typeface="Calibri"/>
            </a:endParaRPr>
          </a:p>
        </p:txBody>
      </p:sp>
      <p:sp>
        <p:nvSpPr>
          <p:cNvPr id="224" name="Google Shape;224;p12"/>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9ABC0"/>
              </a:buClr>
              <a:buSzPts val="900"/>
              <a:buFont typeface="Calibri"/>
              <a:buNone/>
            </a:pPr>
            <a:r>
              <a:rPr b="0" i="0" lang="en-US" sz="900" u="none" cap="none" strike="noStrike">
                <a:solidFill>
                  <a:srgbClr val="A9ABC0"/>
                </a:solidFill>
                <a:latin typeface="Calibri"/>
                <a:ea typeface="Calibri"/>
                <a:cs typeface="Calibri"/>
                <a:sym typeface="Calibri"/>
              </a:rPr>
              <a:t>12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229" name="Shape 229"/>
        <p:cNvGrpSpPr/>
        <p:nvPr/>
      </p:nvGrpSpPr>
      <p:grpSpPr>
        <a:xfrm>
          <a:off x="0" y="0"/>
          <a:ext cx="0" cy="0"/>
          <a:chOff x="0" y="0"/>
          <a:chExt cx="0" cy="0"/>
        </a:xfrm>
      </p:grpSpPr>
      <p:sp>
        <p:nvSpPr>
          <p:cNvPr id="230" name="Google Shape;230;p13"/>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12 · CIERRE</a:t>
            </a:r>
            <a:endParaRPr b="0" i="0" sz="1200" u="none" cap="none" strike="noStrike">
              <a:solidFill>
                <a:schemeClr val="dk1"/>
              </a:solidFill>
              <a:latin typeface="Calibri"/>
              <a:ea typeface="Calibri"/>
              <a:cs typeface="Calibri"/>
              <a:sym typeface="Calibri"/>
            </a:endParaRPr>
          </a:p>
        </p:txBody>
      </p:sp>
      <p:sp>
        <p:nvSpPr>
          <p:cNvPr id="231" name="Google Shape;231;p13"/>
          <p:cNvSpPr/>
          <p:nvPr/>
        </p:nvSpPr>
        <p:spPr>
          <a:xfrm>
            <a:off x="640080" y="777240"/>
            <a:ext cx="73152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Aprendizajes</a:t>
            </a:r>
            <a:endParaRPr b="0" i="0" sz="3200" u="none" cap="none" strike="noStrike">
              <a:solidFill>
                <a:schemeClr val="dk1"/>
              </a:solidFill>
              <a:latin typeface="Calibri"/>
              <a:ea typeface="Calibri"/>
              <a:cs typeface="Calibri"/>
              <a:sym typeface="Calibri"/>
            </a:endParaRPr>
          </a:p>
        </p:txBody>
      </p:sp>
      <p:sp>
        <p:nvSpPr>
          <p:cNvPr id="232" name="Google Shape;232;p13"/>
          <p:cNvSpPr/>
          <p:nvPr/>
        </p:nvSpPr>
        <p:spPr>
          <a:xfrm>
            <a:off x="640080" y="160020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3"/>
          <p:cNvSpPr/>
          <p:nvPr/>
        </p:nvSpPr>
        <p:spPr>
          <a:xfrm>
            <a:off x="914400" y="1874520"/>
            <a:ext cx="457200" cy="457200"/>
          </a:xfrm>
          <a:prstGeom prst="ellipse">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3"/>
          <p:cNvSpPr/>
          <p:nvPr/>
        </p:nvSpPr>
        <p:spPr>
          <a:xfrm>
            <a:off x="914400" y="187452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35" name="Google Shape;235;p13"/>
          <p:cNvSpPr/>
          <p:nvPr/>
        </p:nvSpPr>
        <p:spPr>
          <a:xfrm>
            <a:off x="1554480" y="185623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Validar antes de diseñar</a:t>
            </a:r>
            <a:endParaRPr b="0" i="0" sz="1500" u="none" cap="none" strike="noStrike">
              <a:solidFill>
                <a:schemeClr val="dk1"/>
              </a:solidFill>
              <a:latin typeface="Calibri"/>
              <a:ea typeface="Calibri"/>
              <a:cs typeface="Calibri"/>
              <a:sym typeface="Calibri"/>
            </a:endParaRPr>
          </a:p>
        </p:txBody>
      </p:sp>
      <p:sp>
        <p:nvSpPr>
          <p:cNvPr id="236" name="Google Shape;236;p13"/>
          <p:cNvSpPr/>
          <p:nvPr/>
        </p:nvSpPr>
        <p:spPr>
          <a:xfrm>
            <a:off x="914400" y="251460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Validar el problema con datos reales (Atención al Cliente, encuestas, datos públicos de uso) antes de diseñar cualquier solución evitó retrabajo en el rediseño del filtro.</a:t>
            </a:r>
            <a:endParaRPr b="0" i="0" sz="1150" u="none" cap="none" strike="noStrike">
              <a:solidFill>
                <a:schemeClr val="dk1"/>
              </a:solidFill>
              <a:latin typeface="Calibri"/>
              <a:ea typeface="Calibri"/>
              <a:cs typeface="Calibri"/>
              <a:sym typeface="Calibri"/>
            </a:endParaRPr>
          </a:p>
        </p:txBody>
      </p:sp>
      <p:sp>
        <p:nvSpPr>
          <p:cNvPr id="237" name="Google Shape;237;p13"/>
          <p:cNvSpPr/>
          <p:nvPr/>
        </p:nvSpPr>
        <p:spPr>
          <a:xfrm>
            <a:off x="6263640" y="160020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3"/>
          <p:cNvSpPr/>
          <p:nvPr/>
        </p:nvSpPr>
        <p:spPr>
          <a:xfrm>
            <a:off x="6537960" y="1874520"/>
            <a:ext cx="457200" cy="457200"/>
          </a:xfrm>
          <a:prstGeom prst="ellipse">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3"/>
          <p:cNvSpPr/>
          <p:nvPr/>
        </p:nvSpPr>
        <p:spPr>
          <a:xfrm>
            <a:off x="6537960" y="187452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40" name="Google Shape;240;p13"/>
          <p:cNvSpPr/>
          <p:nvPr/>
        </p:nvSpPr>
        <p:spPr>
          <a:xfrm>
            <a:off x="7178040" y="185623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Refinar &gt; reinventar</a:t>
            </a:r>
            <a:endParaRPr b="0" i="0" sz="1500" u="none" cap="none" strike="noStrike">
              <a:solidFill>
                <a:schemeClr val="dk1"/>
              </a:solidFill>
              <a:latin typeface="Calibri"/>
              <a:ea typeface="Calibri"/>
              <a:cs typeface="Calibri"/>
              <a:sym typeface="Calibri"/>
            </a:endParaRPr>
          </a:p>
        </p:txBody>
      </p:sp>
      <p:sp>
        <p:nvSpPr>
          <p:cNvPr id="241" name="Google Shape;241;p13"/>
          <p:cNvSpPr/>
          <p:nvPr/>
        </p:nvSpPr>
        <p:spPr>
          <a:xfrm>
            <a:off x="6537960" y="251460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No todo rediseño necesita reinventar la estructura. La mayor ganancia a veces está en dar claridad y organización a un producto que los usuarios ya usan.</a:t>
            </a:r>
            <a:endParaRPr b="0" i="0" sz="1150" u="none" cap="none" strike="noStrike">
              <a:solidFill>
                <a:schemeClr val="dk1"/>
              </a:solidFill>
              <a:latin typeface="Calibri"/>
              <a:ea typeface="Calibri"/>
              <a:cs typeface="Calibri"/>
              <a:sym typeface="Calibri"/>
            </a:endParaRPr>
          </a:p>
        </p:txBody>
      </p:sp>
      <p:sp>
        <p:nvSpPr>
          <p:cNvPr id="242" name="Google Shape;242;p13"/>
          <p:cNvSpPr/>
          <p:nvPr/>
        </p:nvSpPr>
        <p:spPr>
          <a:xfrm>
            <a:off x="640080" y="397764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3"/>
          <p:cNvSpPr/>
          <p:nvPr/>
        </p:nvSpPr>
        <p:spPr>
          <a:xfrm>
            <a:off x="914400" y="4251960"/>
            <a:ext cx="457200" cy="457200"/>
          </a:xfrm>
          <a:prstGeom prst="ellipse">
            <a:avLst/>
          </a:prstGeom>
          <a:solidFill>
            <a:srgbClr val="8A8D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3"/>
          <p:cNvSpPr/>
          <p:nvPr/>
        </p:nvSpPr>
        <p:spPr>
          <a:xfrm>
            <a:off x="914400" y="42519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45" name="Google Shape;245;p13"/>
          <p:cNvSpPr/>
          <p:nvPr/>
        </p:nvSpPr>
        <p:spPr>
          <a:xfrm>
            <a:off x="1554480" y="423367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Faltó métrica post-lanzamiento</a:t>
            </a:r>
            <a:endParaRPr b="0" i="0" sz="1500" u="none" cap="none" strike="noStrike">
              <a:solidFill>
                <a:schemeClr val="dk1"/>
              </a:solidFill>
              <a:latin typeface="Calibri"/>
              <a:ea typeface="Calibri"/>
              <a:cs typeface="Calibri"/>
              <a:sym typeface="Calibri"/>
            </a:endParaRPr>
          </a:p>
        </p:txBody>
      </p:sp>
      <p:sp>
        <p:nvSpPr>
          <p:cNvPr id="246" name="Google Shape;246;p13"/>
          <p:cNvSpPr/>
          <p:nvPr/>
        </p:nvSpPr>
        <p:spPr>
          <a:xfrm>
            <a:off x="914400" y="489204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No había instrumentación lo suficientemente estructurada para probar cuantitativamente el impacto del filtro, solo el crecimiento general de la plataforma.</a:t>
            </a:r>
            <a:endParaRPr b="0" i="0" sz="1150" u="none" cap="none" strike="noStrike">
              <a:solidFill>
                <a:schemeClr val="dk1"/>
              </a:solidFill>
              <a:latin typeface="Calibri"/>
              <a:ea typeface="Calibri"/>
              <a:cs typeface="Calibri"/>
              <a:sym typeface="Calibri"/>
            </a:endParaRPr>
          </a:p>
        </p:txBody>
      </p:sp>
      <p:sp>
        <p:nvSpPr>
          <p:cNvPr id="247" name="Google Shape;247;p13"/>
          <p:cNvSpPr/>
          <p:nvPr/>
        </p:nvSpPr>
        <p:spPr>
          <a:xfrm>
            <a:off x="6263640" y="397764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3"/>
          <p:cNvSpPr/>
          <p:nvPr/>
        </p:nvSpPr>
        <p:spPr>
          <a:xfrm>
            <a:off x="6537960" y="4251960"/>
            <a:ext cx="457200" cy="457200"/>
          </a:xfrm>
          <a:prstGeom prst="ellipse">
            <a:avLst/>
          </a:prstGeom>
          <a:solidFill>
            <a:srgbClr val="8A8D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3"/>
          <p:cNvSpPr/>
          <p:nvPr/>
        </p:nvSpPr>
        <p:spPr>
          <a:xfrm>
            <a:off x="6537960" y="42519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50" name="Google Shape;250;p13"/>
          <p:cNvSpPr/>
          <p:nvPr/>
        </p:nvSpPr>
        <p:spPr>
          <a:xfrm>
            <a:off x="7178040" y="423367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El contexto de negocio cambia prioridades</a:t>
            </a:r>
            <a:endParaRPr b="0" i="0" sz="1500" u="none" cap="none" strike="noStrike">
              <a:solidFill>
                <a:schemeClr val="dk1"/>
              </a:solidFill>
              <a:latin typeface="Calibri"/>
              <a:ea typeface="Calibri"/>
              <a:cs typeface="Calibri"/>
              <a:sym typeface="Calibri"/>
            </a:endParaRPr>
          </a:p>
        </p:txBody>
      </p:sp>
      <p:sp>
        <p:nvSpPr>
          <p:cNvPr id="251" name="Google Shape;251;p13"/>
          <p:cNvSpPr/>
          <p:nvPr/>
        </p:nvSpPr>
        <p:spPr>
          <a:xfrm>
            <a:off x="6537960" y="489204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Trabajar cinco años en la misma plataforma mostró cómo las prioridades de diseño cambian cuando el contexto de negocio, como la preparación para una adquisición, entra en juego.</a:t>
            </a:r>
            <a:endParaRPr b="0" i="0" sz="1150" u="none" cap="none" strike="noStrike">
              <a:solidFill>
                <a:schemeClr val="dk1"/>
              </a:solidFill>
              <a:latin typeface="Calibri"/>
              <a:ea typeface="Calibri"/>
              <a:cs typeface="Calibri"/>
              <a:sym typeface="Calibri"/>
            </a:endParaRPr>
          </a:p>
        </p:txBody>
      </p:sp>
      <p:sp>
        <p:nvSpPr>
          <p:cNvPr id="252" name="Google Shape;252;p13"/>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13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256" name="Shape 256"/>
        <p:cNvGrpSpPr/>
        <p:nvPr/>
      </p:nvGrpSpPr>
      <p:grpSpPr>
        <a:xfrm>
          <a:off x="0" y="0"/>
          <a:ext cx="0" cy="0"/>
          <a:chOff x="0" y="0"/>
          <a:chExt cx="0" cy="0"/>
        </a:xfrm>
      </p:grpSpPr>
      <p:sp>
        <p:nvSpPr>
          <p:cNvPr id="257" name="Google Shape;257;p14"/>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rgbClr val="F26522"/>
                </a:solidFill>
                <a:latin typeface="Calibri"/>
                <a:ea typeface="Calibri"/>
                <a:cs typeface="Calibri"/>
                <a:sym typeface="Calibri"/>
              </a:rPr>
              <a:t>13 · HOY</a:t>
            </a:r>
            <a:endParaRPr b="0" i="0" sz="1200" u="none" cap="none" strike="noStrike">
              <a:solidFill>
                <a:schemeClr val="dk1"/>
              </a:solidFill>
              <a:latin typeface="Calibri"/>
              <a:ea typeface="Calibri"/>
              <a:cs typeface="Calibri"/>
              <a:sym typeface="Calibri"/>
            </a:endParaRPr>
          </a:p>
        </p:txBody>
      </p:sp>
      <p:sp>
        <p:nvSpPr>
          <p:cNvPr id="258" name="Google Shape;258;p14"/>
          <p:cNvSpPr/>
          <p:nvPr/>
        </p:nvSpPr>
        <p:spPr>
          <a:xfrm>
            <a:off x="640080" y="777240"/>
            <a:ext cx="73152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i="0" lang="en-US" sz="3200" u="none" cap="none" strike="noStrike">
                <a:solidFill>
                  <a:srgbClr val="2E313D"/>
                </a:solidFill>
                <a:latin typeface="Cambria"/>
                <a:ea typeface="Cambria"/>
                <a:cs typeface="Cambria"/>
                <a:sym typeface="Cambria"/>
              </a:rPr>
              <a:t>Cómo lo haría hoy, con IA</a:t>
            </a:r>
            <a:endParaRPr b="0" i="0" sz="3200" u="none" cap="none" strike="noStrike">
              <a:solidFill>
                <a:schemeClr val="dk1"/>
              </a:solidFill>
              <a:latin typeface="Calibri"/>
              <a:ea typeface="Calibri"/>
              <a:cs typeface="Calibri"/>
              <a:sym typeface="Calibri"/>
            </a:endParaRPr>
          </a:p>
        </p:txBody>
      </p:sp>
      <p:sp>
        <p:nvSpPr>
          <p:cNvPr id="259" name="Google Shape;259;p14"/>
          <p:cNvSpPr/>
          <p:nvPr/>
        </p:nvSpPr>
        <p:spPr>
          <a:xfrm>
            <a:off x="640080" y="160020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4"/>
          <p:cNvSpPr/>
          <p:nvPr/>
        </p:nvSpPr>
        <p:spPr>
          <a:xfrm>
            <a:off x="914400" y="1874520"/>
            <a:ext cx="457200" cy="457200"/>
          </a:xfrm>
          <a:prstGeom prst="ellipse">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4"/>
          <p:cNvSpPr/>
          <p:nvPr/>
        </p:nvSpPr>
        <p:spPr>
          <a:xfrm>
            <a:off x="914400" y="187452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62" name="Google Shape;262;p14"/>
          <p:cNvSpPr/>
          <p:nvPr/>
        </p:nvSpPr>
        <p:spPr>
          <a:xfrm>
            <a:off x="1554480" y="185623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Triage de tickets con IA</a:t>
            </a:r>
            <a:endParaRPr b="0" i="0" sz="1500" u="none" cap="none" strike="noStrike">
              <a:solidFill>
                <a:schemeClr val="dk1"/>
              </a:solidFill>
              <a:latin typeface="Calibri"/>
              <a:ea typeface="Calibri"/>
              <a:cs typeface="Calibri"/>
              <a:sym typeface="Calibri"/>
            </a:endParaRPr>
          </a:p>
        </p:txBody>
      </p:sp>
      <p:sp>
        <p:nvSpPr>
          <p:cNvPr id="263" name="Google Shape;263;p14"/>
          <p:cNvSpPr/>
          <p:nvPr/>
        </p:nvSpPr>
        <p:spPr>
          <a:xfrm>
            <a:off x="914400" y="251460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Hoy usaría IA para preclasificar los tickets de Atención al Cliente por tema y criticidad automáticamente, acelerando la etapa de validación del problema que antes era manual.</a:t>
            </a:r>
            <a:endParaRPr b="0" i="0" sz="1150" u="none" cap="none" strike="noStrike">
              <a:solidFill>
                <a:schemeClr val="dk1"/>
              </a:solidFill>
              <a:latin typeface="Calibri"/>
              <a:ea typeface="Calibri"/>
              <a:cs typeface="Calibri"/>
              <a:sym typeface="Calibri"/>
            </a:endParaRPr>
          </a:p>
        </p:txBody>
      </p:sp>
      <p:sp>
        <p:nvSpPr>
          <p:cNvPr id="264" name="Google Shape;264;p14"/>
          <p:cNvSpPr/>
          <p:nvPr/>
        </p:nvSpPr>
        <p:spPr>
          <a:xfrm>
            <a:off x="6263640" y="160020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4"/>
          <p:cNvSpPr/>
          <p:nvPr/>
        </p:nvSpPr>
        <p:spPr>
          <a:xfrm>
            <a:off x="6537960" y="1874520"/>
            <a:ext cx="457200" cy="457200"/>
          </a:xfrm>
          <a:prstGeom prst="ellipse">
            <a:avLst/>
          </a:prstGeom>
          <a:solidFill>
            <a:srgbClr val="F265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4"/>
          <p:cNvSpPr/>
          <p:nvPr/>
        </p:nvSpPr>
        <p:spPr>
          <a:xfrm>
            <a:off x="6537960" y="187452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67" name="Google Shape;267;p14"/>
          <p:cNvSpPr/>
          <p:nvPr/>
        </p:nvSpPr>
        <p:spPr>
          <a:xfrm>
            <a:off x="7178040" y="185623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Prototipos y variaciones más rápidas</a:t>
            </a:r>
            <a:endParaRPr b="0" i="0" sz="1500" u="none" cap="none" strike="noStrike">
              <a:solidFill>
                <a:schemeClr val="dk1"/>
              </a:solidFill>
              <a:latin typeface="Calibri"/>
              <a:ea typeface="Calibri"/>
              <a:cs typeface="Calibri"/>
              <a:sym typeface="Calibri"/>
            </a:endParaRPr>
          </a:p>
        </p:txBody>
      </p:sp>
      <p:sp>
        <p:nvSpPr>
          <p:cNvPr id="268" name="Google Shape;268;p14"/>
          <p:cNvSpPr/>
          <p:nvPr/>
        </p:nvSpPr>
        <p:spPr>
          <a:xfrm>
            <a:off x="6537960" y="251460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Herramientas de generación asistida por IA permitirían probar múltiples variaciones de UI del filtro en horas, no días, antes de validar con usuarios reales.</a:t>
            </a:r>
            <a:endParaRPr b="0" i="0" sz="1150" u="none" cap="none" strike="noStrike">
              <a:solidFill>
                <a:schemeClr val="dk1"/>
              </a:solidFill>
              <a:latin typeface="Calibri"/>
              <a:ea typeface="Calibri"/>
              <a:cs typeface="Calibri"/>
              <a:sym typeface="Calibri"/>
            </a:endParaRPr>
          </a:p>
        </p:txBody>
      </p:sp>
      <p:sp>
        <p:nvSpPr>
          <p:cNvPr id="269" name="Google Shape;269;p14"/>
          <p:cNvSpPr/>
          <p:nvPr/>
        </p:nvSpPr>
        <p:spPr>
          <a:xfrm>
            <a:off x="640080" y="397764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4"/>
          <p:cNvSpPr/>
          <p:nvPr/>
        </p:nvSpPr>
        <p:spPr>
          <a:xfrm>
            <a:off x="914400" y="4251960"/>
            <a:ext cx="457200" cy="457200"/>
          </a:xfrm>
          <a:prstGeom prst="ellipse">
            <a:avLst/>
          </a:prstGeom>
          <a:solidFill>
            <a:srgbClr val="8A8D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4"/>
          <p:cNvSpPr/>
          <p:nvPr/>
        </p:nvSpPr>
        <p:spPr>
          <a:xfrm>
            <a:off x="914400" y="42519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72" name="Google Shape;272;p14"/>
          <p:cNvSpPr/>
          <p:nvPr/>
        </p:nvSpPr>
        <p:spPr>
          <a:xfrm>
            <a:off x="1554480" y="423367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Síntesis de investigación con usuarios</a:t>
            </a:r>
            <a:endParaRPr b="0" i="0" sz="1500" u="none" cap="none" strike="noStrike">
              <a:solidFill>
                <a:schemeClr val="dk1"/>
              </a:solidFill>
              <a:latin typeface="Calibri"/>
              <a:ea typeface="Calibri"/>
              <a:cs typeface="Calibri"/>
              <a:sym typeface="Calibri"/>
            </a:endParaRPr>
          </a:p>
        </p:txBody>
      </p:sp>
      <p:sp>
        <p:nvSpPr>
          <p:cNvPr id="273" name="Google Shape;273;p14"/>
          <p:cNvSpPr/>
          <p:nvPr/>
        </p:nvSpPr>
        <p:spPr>
          <a:xfrm>
            <a:off x="914400" y="489204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La IA ayudaría a sintetizar entrevistas y pruebas de usabilidad más rápido, identificando patrones de fricción sin depender solo de la lectura manual de transcripciones.</a:t>
            </a:r>
            <a:endParaRPr b="0" i="0" sz="1150" u="none" cap="none" strike="noStrike">
              <a:solidFill>
                <a:schemeClr val="dk1"/>
              </a:solidFill>
              <a:latin typeface="Calibri"/>
              <a:ea typeface="Calibri"/>
              <a:cs typeface="Calibri"/>
              <a:sym typeface="Calibri"/>
            </a:endParaRPr>
          </a:p>
        </p:txBody>
      </p:sp>
      <p:sp>
        <p:nvSpPr>
          <p:cNvPr id="274" name="Google Shape;274;p14"/>
          <p:cNvSpPr/>
          <p:nvPr/>
        </p:nvSpPr>
        <p:spPr>
          <a:xfrm>
            <a:off x="6263640" y="3977640"/>
            <a:ext cx="5257800" cy="2103120"/>
          </a:xfrm>
          <a:prstGeom prst="roundRect">
            <a:avLst>
              <a:gd fmla="val 3043" name="adj"/>
            </a:avLst>
          </a:prstGeom>
          <a:solidFill>
            <a:srgbClr val="FFFFFF"/>
          </a:solidFill>
          <a:ln cap="flat" cmpd="sng" w="12700">
            <a:solidFill>
              <a:srgbClr val="DEDCD5"/>
            </a:solidFill>
            <a:prstDash val="solid"/>
            <a:round/>
            <a:headEnd len="sm" w="sm" type="none"/>
            <a:tailEnd len="sm" w="sm" type="none"/>
          </a:ln>
          <a:effectLst>
            <a:outerShdw blurRad="76200" rotWithShape="0" algn="bl" dir="54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4"/>
          <p:cNvSpPr/>
          <p:nvPr/>
        </p:nvSpPr>
        <p:spPr>
          <a:xfrm>
            <a:off x="6537960" y="4251960"/>
            <a:ext cx="457200" cy="457200"/>
          </a:xfrm>
          <a:prstGeom prst="ellipse">
            <a:avLst/>
          </a:prstGeom>
          <a:solidFill>
            <a:srgbClr val="8A8D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4"/>
          <p:cNvSpPr/>
          <p:nvPr/>
        </p:nvSpPr>
        <p:spPr>
          <a:xfrm>
            <a:off x="6537960" y="4251960"/>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77" name="Google Shape;277;p14"/>
          <p:cNvSpPr/>
          <p:nvPr/>
        </p:nvSpPr>
        <p:spPr>
          <a:xfrm>
            <a:off x="7178040" y="4233672"/>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1500"/>
              <a:buFont typeface="Calibri"/>
              <a:buNone/>
            </a:pPr>
            <a:r>
              <a:rPr b="1" i="0" lang="en-US" sz="1500" u="none" cap="none" strike="noStrike">
                <a:solidFill>
                  <a:srgbClr val="2E313D"/>
                </a:solidFill>
                <a:latin typeface="Calibri"/>
                <a:ea typeface="Calibri"/>
                <a:cs typeface="Calibri"/>
                <a:sym typeface="Calibri"/>
              </a:rPr>
              <a:t>Métricas desde el día 1</a:t>
            </a:r>
            <a:endParaRPr b="0" i="0" sz="1500" u="none" cap="none" strike="noStrike">
              <a:solidFill>
                <a:schemeClr val="dk1"/>
              </a:solidFill>
              <a:latin typeface="Calibri"/>
              <a:ea typeface="Calibri"/>
              <a:cs typeface="Calibri"/>
              <a:sym typeface="Calibri"/>
            </a:endParaRPr>
          </a:p>
        </p:txBody>
      </p:sp>
      <p:sp>
        <p:nvSpPr>
          <p:cNvPr id="278" name="Google Shape;278;p14"/>
          <p:cNvSpPr/>
          <p:nvPr/>
        </p:nvSpPr>
        <p:spPr>
          <a:xfrm>
            <a:off x="6537960" y="4892040"/>
            <a:ext cx="4709160"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b="0" i="0" lang="en-US" sz="1150" u="none" cap="none" strike="noStrike">
                <a:solidFill>
                  <a:srgbClr val="70737E"/>
                </a:solidFill>
                <a:latin typeface="Calibri"/>
                <a:ea typeface="Calibri"/>
                <a:cs typeface="Calibri"/>
                <a:sym typeface="Calibri"/>
              </a:rPr>
              <a:t>Con las herramientas de análisis apoyadas por IA disponibles hoy, instrumentaría el lanzamiento desde el inicio, resolviendo la brecha de medición que quedó como aprendizaje en este case.</a:t>
            </a:r>
            <a:endParaRPr b="0" i="0" sz="1150" u="none" cap="none" strike="noStrike">
              <a:solidFill>
                <a:schemeClr val="dk1"/>
              </a:solidFill>
              <a:latin typeface="Calibri"/>
              <a:ea typeface="Calibri"/>
              <a:cs typeface="Calibri"/>
              <a:sym typeface="Calibri"/>
            </a:endParaRPr>
          </a:p>
        </p:txBody>
      </p:sp>
      <p:sp>
        <p:nvSpPr>
          <p:cNvPr id="279" name="Google Shape;279;p14"/>
          <p:cNvSpPr/>
          <p:nvPr/>
        </p:nvSpPr>
        <p:spPr>
          <a:xfrm>
            <a:off x="11247120" y="6473952"/>
            <a:ext cx="8229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14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284" name="Shape 284"/>
        <p:cNvGrpSpPr/>
        <p:nvPr/>
      </p:nvGrpSpPr>
      <p:grpSpPr>
        <a:xfrm>
          <a:off x="0" y="0"/>
          <a:ext cx="0" cy="0"/>
          <a:chOff x="0" y="0"/>
          <a:chExt cx="0" cy="0"/>
        </a:xfrm>
      </p:grpSpPr>
      <p:sp>
        <p:nvSpPr>
          <p:cNvPr id="285" name="Google Shape;285;g3f85bb41658_0_0"/>
          <p:cNvSpPr/>
          <p:nvPr/>
        </p:nvSpPr>
        <p:spPr>
          <a:xfrm>
            <a:off x="640080" y="457200"/>
            <a:ext cx="731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i="0" lang="en-US" sz="1200" u="none" cap="none" strike="noStrike">
                <a:solidFill>
                  <a:schemeClr val="accent2"/>
                </a:solidFill>
                <a:latin typeface="Calibri"/>
                <a:ea typeface="Calibri"/>
                <a:cs typeface="Calibri"/>
                <a:sym typeface="Calibri"/>
              </a:rPr>
              <a:t>0</a:t>
            </a:r>
            <a:r>
              <a:rPr b="1" lang="en-US" sz="1100">
                <a:solidFill>
                  <a:schemeClr val="accent2"/>
                </a:solidFill>
              </a:rPr>
              <a:t>1.1 · Precificación</a:t>
            </a:r>
            <a:r>
              <a:rPr lang="en-US" sz="1100">
                <a:solidFill>
                  <a:schemeClr val="accent2"/>
                </a:solidFill>
              </a:rPr>
              <a:t> </a:t>
            </a:r>
            <a:endParaRPr b="0" i="0" sz="1200" u="none" cap="none" strike="noStrike">
              <a:solidFill>
                <a:schemeClr val="accent2"/>
              </a:solidFill>
              <a:latin typeface="Calibri"/>
              <a:ea typeface="Calibri"/>
              <a:cs typeface="Calibri"/>
              <a:sym typeface="Calibri"/>
            </a:endParaRPr>
          </a:p>
        </p:txBody>
      </p:sp>
      <p:sp>
        <p:nvSpPr>
          <p:cNvPr id="286" name="Google Shape;286;g3f85bb41658_0_0"/>
          <p:cNvSpPr/>
          <p:nvPr/>
        </p:nvSpPr>
        <p:spPr>
          <a:xfrm>
            <a:off x="640080" y="77724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Cambria"/>
              <a:buNone/>
            </a:pPr>
            <a:r>
              <a:rPr b="1" lang="en-US" sz="3200">
                <a:solidFill>
                  <a:srgbClr val="FFFFFF"/>
                </a:solidFill>
                <a:latin typeface="Cambria"/>
                <a:ea typeface="Cambria"/>
                <a:cs typeface="Cambria"/>
                <a:sym typeface="Cambria"/>
              </a:rPr>
              <a:t>El Precio que No se Percibe </a:t>
            </a:r>
            <a:endParaRPr b="0" i="0" sz="3200" u="none" cap="none" strike="noStrike">
              <a:solidFill>
                <a:schemeClr val="dk1"/>
              </a:solidFill>
              <a:latin typeface="Calibri"/>
              <a:ea typeface="Calibri"/>
              <a:cs typeface="Calibri"/>
              <a:sym typeface="Calibri"/>
            </a:endParaRPr>
          </a:p>
        </p:txBody>
      </p:sp>
      <p:sp>
        <p:nvSpPr>
          <p:cNvPr id="287" name="Google Shape;287;g3f85bb41658_0_0"/>
          <p:cNvSpPr/>
          <p:nvPr/>
        </p:nvSpPr>
        <p:spPr>
          <a:xfrm>
            <a:off x="640075" y="1600200"/>
            <a:ext cx="6035100" cy="3034200"/>
          </a:xfrm>
          <a:prstGeom prst="rect">
            <a:avLst/>
          </a:prstGeom>
          <a:noFill/>
          <a:ln>
            <a:noFill/>
          </a:ln>
        </p:spPr>
        <p:txBody>
          <a:bodyPr anchorCtr="0" anchor="ctr" bIns="0" lIns="0" spcFirstLastPara="1" rIns="0" wrap="square" tIns="0">
            <a:noAutofit/>
          </a:bodyPr>
          <a:lstStyle/>
          <a:p>
            <a:pPr indent="0" lvl="0" marL="0" marR="0" rtl="0" algn="l">
              <a:lnSpc>
                <a:spcPct val="153333"/>
              </a:lnSpc>
              <a:spcBef>
                <a:spcPts val="0"/>
              </a:spcBef>
              <a:spcAft>
                <a:spcPts val="0"/>
              </a:spcAft>
              <a:buClr>
                <a:srgbClr val="A9ABC0"/>
              </a:buClr>
              <a:buSzPts val="1500"/>
              <a:buFont typeface="Calibri"/>
              <a:buNone/>
            </a:pPr>
            <a:r>
              <a:rPr lang="en-US" sz="1500">
                <a:solidFill>
                  <a:srgbClr val="A9ABC0"/>
                </a:solidFill>
                <a:latin typeface="Calibri"/>
                <a:ea typeface="Calibri"/>
                <a:cs typeface="Calibri"/>
                <a:sym typeface="Calibri"/>
              </a:rPr>
              <a:t>Con la base de suscriptores ya en millones, cuestioné al fundador responsable del área financiera sobre la lógica detrás del plan mensual Premium, cobrado a R$13,25. Su respuesta reveló el cálculo detrás del valor, y abrió espacio para una propuesta: usar el concepto de "precio encantador" para elevar el valor sin generar percepción de pérdida en quien ya pagaba. </a:t>
            </a:r>
            <a:endParaRPr b="0" i="0" sz="1500" u="none" cap="none" strike="noStrike">
              <a:solidFill>
                <a:schemeClr val="dk1"/>
              </a:solidFill>
              <a:latin typeface="Calibri"/>
              <a:ea typeface="Calibri"/>
              <a:cs typeface="Calibri"/>
              <a:sym typeface="Calibri"/>
            </a:endParaRPr>
          </a:p>
        </p:txBody>
      </p:sp>
      <p:sp>
        <p:nvSpPr>
          <p:cNvPr id="288" name="Google Shape;288;g3f85bb41658_0_0"/>
          <p:cNvSpPr/>
          <p:nvPr/>
        </p:nvSpPr>
        <p:spPr>
          <a:xfrm>
            <a:off x="7315200" y="1600200"/>
            <a:ext cx="4206300" cy="4206300"/>
          </a:xfrm>
          <a:prstGeom prst="roundRect">
            <a:avLst>
              <a:gd fmla="val 1739" name="adj"/>
            </a:avLst>
          </a:prstGeom>
          <a:solidFill>
            <a:srgbClr val="2424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3f85bb41658_0_0"/>
          <p:cNvSpPr/>
          <p:nvPr/>
        </p:nvSpPr>
        <p:spPr>
          <a:xfrm>
            <a:off x="7315200" y="2651760"/>
            <a:ext cx="42063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6522"/>
              </a:buClr>
              <a:buSzPts val="4800"/>
              <a:buFont typeface="Cambria"/>
              <a:buNone/>
            </a:pPr>
            <a:r>
              <a:rPr b="1" lang="en-US" sz="2400">
                <a:solidFill>
                  <a:srgbClr val="F26522"/>
                </a:solidFill>
                <a:latin typeface="Cambria"/>
                <a:ea typeface="Cambria"/>
                <a:cs typeface="Cambria"/>
                <a:sym typeface="Cambria"/>
              </a:rPr>
              <a:t>R$13,25 → R$13,90 </a:t>
            </a:r>
            <a:endParaRPr b="0" i="0" sz="2400" u="none" cap="none" strike="noStrike">
              <a:solidFill>
                <a:schemeClr val="dk1"/>
              </a:solidFill>
              <a:latin typeface="Calibri"/>
              <a:ea typeface="Calibri"/>
              <a:cs typeface="Calibri"/>
              <a:sym typeface="Calibri"/>
            </a:endParaRPr>
          </a:p>
        </p:txBody>
      </p:sp>
      <p:sp>
        <p:nvSpPr>
          <p:cNvPr id="290" name="Google Shape;290;g3f85bb41658_0_0"/>
          <p:cNvSpPr/>
          <p:nvPr/>
        </p:nvSpPr>
        <p:spPr>
          <a:xfrm>
            <a:off x="7589520" y="3566160"/>
            <a:ext cx="3657600" cy="822900"/>
          </a:xfrm>
          <a:prstGeom prst="rect">
            <a:avLst/>
          </a:prstGeom>
          <a:noFill/>
          <a:ln>
            <a:noFill/>
          </a:ln>
        </p:spPr>
        <p:txBody>
          <a:bodyPr anchorCtr="0" anchor="ctr" bIns="0" lIns="0" spcFirstLastPara="1" rIns="0" wrap="square" tIns="0">
            <a:noAutofit/>
          </a:bodyPr>
          <a:lstStyle/>
          <a:p>
            <a:pPr indent="0" lvl="0" marL="0" marR="0" rtl="0" algn="ctr">
              <a:lnSpc>
                <a:spcPct val="136000"/>
              </a:lnSpc>
              <a:spcBef>
                <a:spcPts val="0"/>
              </a:spcBef>
              <a:spcAft>
                <a:spcPts val="0"/>
              </a:spcAft>
              <a:buClr>
                <a:srgbClr val="A9ABC0"/>
              </a:buClr>
              <a:buSzPts val="1250"/>
              <a:buFont typeface="Calibri"/>
              <a:buNone/>
            </a:pPr>
            <a:r>
              <a:rPr lang="en-US" sz="1250">
                <a:solidFill>
                  <a:srgbClr val="A9ABC0"/>
                </a:solidFill>
                <a:latin typeface="Calibri"/>
                <a:ea typeface="Calibri"/>
                <a:cs typeface="Calibri"/>
                <a:sym typeface="Calibri"/>
              </a:rPr>
              <a:t>Aumento de R$0,65 — perceptible, pero por debajo del umbral de percepción de pérdida </a:t>
            </a:r>
            <a:endParaRPr b="0" i="0" sz="1250" u="none" cap="none" strike="noStrike">
              <a:solidFill>
                <a:schemeClr val="dk1"/>
              </a:solidFill>
              <a:latin typeface="Calibri"/>
              <a:ea typeface="Calibri"/>
              <a:cs typeface="Calibri"/>
              <a:sym typeface="Calibri"/>
            </a:endParaRPr>
          </a:p>
        </p:txBody>
      </p:sp>
      <p:sp>
        <p:nvSpPr>
          <p:cNvPr id="291" name="Google Shape;291;g3f85bb41658_0_0"/>
          <p:cNvSpPr/>
          <p:nvPr/>
        </p:nvSpPr>
        <p:spPr>
          <a:xfrm>
            <a:off x="11247120" y="6473952"/>
            <a:ext cx="8229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9ABC0"/>
              </a:buClr>
              <a:buSzPts val="900"/>
              <a:buFont typeface="Calibri"/>
              <a:buNone/>
            </a:pPr>
            <a:r>
              <a:rPr b="0" i="0" lang="en-US" sz="900" u="none" cap="none" strike="noStrike">
                <a:solidFill>
                  <a:srgbClr val="A9ABC0"/>
                </a:solidFill>
                <a:latin typeface="Calibri"/>
                <a:ea typeface="Calibri"/>
                <a:cs typeface="Calibri"/>
                <a:sym typeface="Calibri"/>
              </a:rPr>
              <a:t>05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296" name="Shape 296"/>
        <p:cNvGrpSpPr/>
        <p:nvPr/>
      </p:nvGrpSpPr>
      <p:grpSpPr>
        <a:xfrm>
          <a:off x="0" y="0"/>
          <a:ext cx="0" cy="0"/>
          <a:chOff x="0" y="0"/>
          <a:chExt cx="0" cy="0"/>
        </a:xfrm>
      </p:grpSpPr>
      <p:sp>
        <p:nvSpPr>
          <p:cNvPr id="297" name="Google Shape;297;g3f85bb41658_0_20"/>
          <p:cNvSpPr/>
          <p:nvPr/>
        </p:nvSpPr>
        <p:spPr>
          <a:xfrm>
            <a:off x="640080" y="457200"/>
            <a:ext cx="731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lang="en-US" sz="1200">
                <a:solidFill>
                  <a:srgbClr val="F26522"/>
                </a:solidFill>
                <a:latin typeface="Calibri"/>
                <a:ea typeface="Calibri"/>
                <a:cs typeface="Calibri"/>
                <a:sym typeface="Calibri"/>
              </a:rPr>
              <a:t>11.2 · Antes y Después</a:t>
            </a:r>
            <a:endParaRPr b="0" i="0" sz="1200" u="none" cap="none" strike="noStrike">
              <a:solidFill>
                <a:schemeClr val="dk1"/>
              </a:solidFill>
              <a:latin typeface="Calibri"/>
              <a:ea typeface="Calibri"/>
              <a:cs typeface="Calibri"/>
              <a:sym typeface="Calibri"/>
            </a:endParaRPr>
          </a:p>
        </p:txBody>
      </p:sp>
      <p:sp>
        <p:nvSpPr>
          <p:cNvPr id="298" name="Google Shape;298;g3f85bb41658_0_20"/>
          <p:cNvSpPr/>
          <p:nvPr/>
        </p:nvSpPr>
        <p:spPr>
          <a:xfrm>
            <a:off x="640080" y="777240"/>
            <a:ext cx="9144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lang="en-US" sz="3200">
                <a:solidFill>
                  <a:srgbClr val="2E313D"/>
                </a:solidFill>
                <a:latin typeface="Cambria"/>
                <a:ea typeface="Cambria"/>
                <a:cs typeface="Cambria"/>
                <a:sym typeface="Cambria"/>
              </a:rPr>
              <a:t>El Cambio en la Práctica </a:t>
            </a:r>
            <a:endParaRPr b="0" i="0" sz="3200" u="none" cap="none" strike="noStrike">
              <a:solidFill>
                <a:schemeClr val="dk1"/>
              </a:solidFill>
              <a:latin typeface="Calibri"/>
              <a:ea typeface="Calibri"/>
              <a:cs typeface="Calibri"/>
              <a:sym typeface="Calibri"/>
            </a:endParaRPr>
          </a:p>
        </p:txBody>
      </p:sp>
      <p:sp>
        <p:nvSpPr>
          <p:cNvPr id="299" name="Google Shape;299;g3f85bb41658_0_20"/>
          <p:cNvSpPr/>
          <p:nvPr/>
        </p:nvSpPr>
        <p:spPr>
          <a:xfrm>
            <a:off x="640080" y="1417320"/>
            <a:ext cx="10881300" cy="5487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350"/>
              <a:buFont typeface="Calibri"/>
              <a:buNone/>
            </a:pPr>
            <a:r>
              <a:rPr lang="en-US" sz="1350">
                <a:solidFill>
                  <a:srgbClr val="2E313D"/>
                </a:solidFill>
                <a:latin typeface="Calibri"/>
                <a:ea typeface="Calibri"/>
                <a:cs typeface="Calibri"/>
                <a:sym typeface="Calibri"/>
              </a:rPr>
              <a:t>La misma pantalla de planes, escritorio y móvil, antes y después del ajuste. Ningún otro cambio visual o de flujo — solo el valor. </a:t>
            </a:r>
            <a:r>
              <a:rPr b="0" i="0" lang="en-US" sz="1350" u="none" cap="none" strike="noStrike">
                <a:solidFill>
                  <a:srgbClr val="2E313D"/>
                </a:solidFill>
                <a:latin typeface="Calibri"/>
                <a:ea typeface="Calibri"/>
                <a:cs typeface="Calibri"/>
                <a:sym typeface="Calibri"/>
              </a:rPr>
              <a:t>.</a:t>
            </a:r>
            <a:endParaRPr b="0" i="0" sz="1350" u="none" cap="none" strike="noStrike">
              <a:solidFill>
                <a:schemeClr val="dk1"/>
              </a:solidFill>
              <a:latin typeface="Calibri"/>
              <a:ea typeface="Calibri"/>
              <a:cs typeface="Calibri"/>
              <a:sym typeface="Calibri"/>
            </a:endParaRPr>
          </a:p>
        </p:txBody>
      </p:sp>
      <p:sp>
        <p:nvSpPr>
          <p:cNvPr id="300" name="Google Shape;300;g3f85bb41658_0_20"/>
          <p:cNvSpPr/>
          <p:nvPr/>
        </p:nvSpPr>
        <p:spPr>
          <a:xfrm>
            <a:off x="640080" y="2194560"/>
            <a:ext cx="5074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50"/>
              <a:buFont typeface="Calibri"/>
              <a:buNone/>
            </a:pPr>
            <a:r>
              <a:rPr b="1" lang="en-US" sz="1050">
                <a:solidFill>
                  <a:srgbClr val="F26522"/>
                </a:solidFill>
                <a:latin typeface="Calibri"/>
                <a:ea typeface="Calibri"/>
                <a:cs typeface="Calibri"/>
                <a:sym typeface="Calibri"/>
              </a:rPr>
              <a:t>ANTES</a:t>
            </a:r>
            <a:endParaRPr b="0" i="0" sz="1050" u="none" cap="none" strike="noStrike">
              <a:solidFill>
                <a:schemeClr val="dk1"/>
              </a:solidFill>
              <a:latin typeface="Calibri"/>
              <a:ea typeface="Calibri"/>
              <a:cs typeface="Calibri"/>
              <a:sym typeface="Calibri"/>
            </a:endParaRPr>
          </a:p>
        </p:txBody>
      </p:sp>
      <p:sp>
        <p:nvSpPr>
          <p:cNvPr id="301" name="Google Shape;301;g3f85bb41658_0_20"/>
          <p:cNvSpPr/>
          <p:nvPr/>
        </p:nvSpPr>
        <p:spPr>
          <a:xfrm>
            <a:off x="585225" y="2459725"/>
            <a:ext cx="4530600" cy="3473400"/>
          </a:xfrm>
          <a:prstGeom prst="roundRect">
            <a:avLst>
              <a:gd fmla="val 1332" name="adj"/>
            </a:avLst>
          </a:prstGeom>
          <a:solidFill>
            <a:srgbClr val="FFFFFF"/>
          </a:solidFill>
          <a:ln cap="flat" cmpd="sng" w="15350">
            <a:solidFill>
              <a:srgbClr val="DEDCD5"/>
            </a:solidFill>
            <a:prstDash val="solid"/>
            <a:round/>
            <a:headEnd len="sm" w="sm" type="none"/>
            <a:tailEnd len="sm" w="sm" type="none"/>
          </a:ln>
          <a:effectLst>
            <a:outerShdw blurRad="153397" rotWithShape="0" algn="bl" dir="5400000" dist="46019">
              <a:srgbClr val="000000">
                <a:alpha val="12160"/>
              </a:srgbClr>
            </a:outerShdw>
          </a:effectLst>
        </p:spPr>
        <p:txBody>
          <a:bodyPr anchorCtr="0" anchor="ctr" bIns="110425" lIns="110425" spcFirstLastPara="1" rIns="110425" wrap="square" tIns="110425">
            <a:noAutofit/>
          </a:bodyPr>
          <a:lstStyle/>
          <a:p>
            <a:pPr indent="0" lvl="0" marL="0" marR="0" rtl="0" algn="l">
              <a:lnSpc>
                <a:spcPct val="100000"/>
              </a:lnSpc>
              <a:spcBef>
                <a:spcPts val="0"/>
              </a:spcBef>
              <a:spcAft>
                <a:spcPts val="0"/>
              </a:spcAft>
              <a:buClr>
                <a:srgbClr val="000000"/>
              </a:buClr>
              <a:buSzPts val="1691"/>
              <a:buFont typeface="Arial"/>
              <a:buNone/>
            </a:pPr>
            <a:r>
              <a:t/>
            </a:r>
            <a:endParaRPr b="0" i="0" sz="1691" u="none" cap="none" strike="noStrike">
              <a:solidFill>
                <a:srgbClr val="000000"/>
              </a:solidFill>
              <a:latin typeface="Arial"/>
              <a:ea typeface="Arial"/>
              <a:cs typeface="Arial"/>
              <a:sym typeface="Arial"/>
            </a:endParaRPr>
          </a:p>
        </p:txBody>
      </p:sp>
      <p:sp>
        <p:nvSpPr>
          <p:cNvPr id="302" name="Google Shape;302;g3f85bb41658_0_20"/>
          <p:cNvSpPr/>
          <p:nvPr/>
        </p:nvSpPr>
        <p:spPr>
          <a:xfrm>
            <a:off x="6097775" y="2194550"/>
            <a:ext cx="5012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050"/>
              <a:buFont typeface="Calibri"/>
              <a:buNone/>
            </a:pPr>
            <a:r>
              <a:rPr b="1" lang="en-US" sz="1050">
                <a:solidFill>
                  <a:srgbClr val="F26522"/>
                </a:solidFill>
                <a:latin typeface="Calibri"/>
                <a:ea typeface="Calibri"/>
                <a:cs typeface="Calibri"/>
                <a:sym typeface="Calibri"/>
              </a:rPr>
              <a:t>DESPUÉS</a:t>
            </a:r>
            <a:endParaRPr b="0" i="0" sz="1050" u="none" cap="none" strike="noStrike">
              <a:solidFill>
                <a:schemeClr val="dk1"/>
              </a:solidFill>
              <a:latin typeface="Calibri"/>
              <a:ea typeface="Calibri"/>
              <a:cs typeface="Calibri"/>
              <a:sym typeface="Calibri"/>
            </a:endParaRPr>
          </a:p>
        </p:txBody>
      </p:sp>
      <p:sp>
        <p:nvSpPr>
          <p:cNvPr id="303" name="Google Shape;303;g3f85bb41658_0_20"/>
          <p:cNvSpPr/>
          <p:nvPr/>
        </p:nvSpPr>
        <p:spPr>
          <a:xfrm>
            <a:off x="585228" y="6076125"/>
            <a:ext cx="5184600" cy="5487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lang="en-US" sz="1150">
                <a:solidFill>
                  <a:srgbClr val="70737E"/>
                </a:solidFill>
                <a:latin typeface="Calibri"/>
                <a:ea typeface="Calibri"/>
                <a:cs typeface="Calibri"/>
                <a:sym typeface="Calibri"/>
              </a:rPr>
              <a:t>Leyenda: Página de planes · Premium R$13,25/mes </a:t>
            </a:r>
            <a:endParaRPr b="0" i="0" sz="1150" u="none" cap="none" strike="noStrike">
              <a:solidFill>
                <a:schemeClr val="dk1"/>
              </a:solidFill>
              <a:latin typeface="Calibri"/>
              <a:ea typeface="Calibri"/>
              <a:cs typeface="Calibri"/>
              <a:sym typeface="Calibri"/>
            </a:endParaRPr>
          </a:p>
        </p:txBody>
      </p:sp>
      <p:sp>
        <p:nvSpPr>
          <p:cNvPr id="304" name="Google Shape;304;g3f85bb41658_0_20"/>
          <p:cNvSpPr/>
          <p:nvPr/>
        </p:nvSpPr>
        <p:spPr>
          <a:xfrm>
            <a:off x="11247120" y="6473952"/>
            <a:ext cx="8229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08 / 14</a:t>
            </a:r>
            <a:endParaRPr b="0" i="0" sz="900" u="none" cap="none" strike="noStrike">
              <a:solidFill>
                <a:schemeClr val="dk1"/>
              </a:solidFill>
              <a:latin typeface="Calibri"/>
              <a:ea typeface="Calibri"/>
              <a:cs typeface="Calibri"/>
              <a:sym typeface="Calibri"/>
            </a:endParaRPr>
          </a:p>
        </p:txBody>
      </p:sp>
      <p:sp>
        <p:nvSpPr>
          <p:cNvPr id="305" name="Google Shape;305;g3f85bb41658_0_20"/>
          <p:cNvSpPr/>
          <p:nvPr/>
        </p:nvSpPr>
        <p:spPr>
          <a:xfrm>
            <a:off x="6133753" y="6076125"/>
            <a:ext cx="5184600" cy="5487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lang="en-US" sz="1150">
                <a:solidFill>
                  <a:srgbClr val="70737E"/>
                </a:solidFill>
                <a:latin typeface="Calibri"/>
                <a:ea typeface="Calibri"/>
                <a:cs typeface="Calibri"/>
                <a:sym typeface="Calibri"/>
              </a:rPr>
              <a:t>Leyenda: Página de planes · Premium R$13,90/mes </a:t>
            </a:r>
            <a:endParaRPr b="0" i="0" sz="1150" u="none" cap="none" strike="noStrike">
              <a:solidFill>
                <a:schemeClr val="dk1"/>
              </a:solidFill>
              <a:latin typeface="Calibri"/>
              <a:ea typeface="Calibri"/>
              <a:cs typeface="Calibri"/>
              <a:sym typeface="Calibri"/>
            </a:endParaRPr>
          </a:p>
        </p:txBody>
      </p:sp>
      <p:pic>
        <p:nvPicPr>
          <p:cNvPr id="306" name="Google Shape;306;g3f85bb41658_0_20" title="image 15447.png"/>
          <p:cNvPicPr preferRelativeResize="0"/>
          <p:nvPr/>
        </p:nvPicPr>
        <p:blipFill>
          <a:blip r:embed="rId3">
            <a:alphaModFix/>
          </a:blip>
          <a:stretch>
            <a:fillRect/>
          </a:stretch>
        </p:blipFill>
        <p:spPr>
          <a:xfrm>
            <a:off x="649666" y="2535139"/>
            <a:ext cx="4423149" cy="3317362"/>
          </a:xfrm>
          <a:prstGeom prst="rect">
            <a:avLst/>
          </a:prstGeom>
          <a:noFill/>
          <a:ln>
            <a:noFill/>
          </a:ln>
        </p:spPr>
      </p:pic>
      <p:sp>
        <p:nvSpPr>
          <p:cNvPr id="307" name="Google Shape;307;g3f85bb41658_0_20"/>
          <p:cNvSpPr/>
          <p:nvPr/>
        </p:nvSpPr>
        <p:spPr>
          <a:xfrm>
            <a:off x="6097784" y="2459725"/>
            <a:ext cx="4530600" cy="3473400"/>
          </a:xfrm>
          <a:prstGeom prst="roundRect">
            <a:avLst>
              <a:gd fmla="val 1332" name="adj"/>
            </a:avLst>
          </a:prstGeom>
          <a:solidFill>
            <a:srgbClr val="FFFFFF"/>
          </a:solidFill>
          <a:ln cap="flat" cmpd="sng" w="15350">
            <a:solidFill>
              <a:srgbClr val="DEDCD5"/>
            </a:solidFill>
            <a:prstDash val="solid"/>
            <a:round/>
            <a:headEnd len="sm" w="sm" type="none"/>
            <a:tailEnd len="sm" w="sm" type="none"/>
          </a:ln>
          <a:effectLst>
            <a:outerShdw blurRad="153397" rotWithShape="0" algn="bl" dir="5400000" dist="46019">
              <a:srgbClr val="000000">
                <a:alpha val="12160"/>
              </a:srgbClr>
            </a:outerShdw>
          </a:effectLst>
        </p:spPr>
        <p:txBody>
          <a:bodyPr anchorCtr="0" anchor="ctr" bIns="110425" lIns="110425" spcFirstLastPara="1" rIns="110425" wrap="square" tIns="110425">
            <a:noAutofit/>
          </a:bodyPr>
          <a:lstStyle/>
          <a:p>
            <a:pPr indent="0" lvl="0" marL="0" marR="0" rtl="0" algn="l">
              <a:lnSpc>
                <a:spcPct val="100000"/>
              </a:lnSpc>
              <a:spcBef>
                <a:spcPts val="0"/>
              </a:spcBef>
              <a:spcAft>
                <a:spcPts val="0"/>
              </a:spcAft>
              <a:buClr>
                <a:srgbClr val="000000"/>
              </a:buClr>
              <a:buSzPts val="1691"/>
              <a:buFont typeface="Arial"/>
              <a:buNone/>
            </a:pPr>
            <a:r>
              <a:t/>
            </a:r>
            <a:endParaRPr b="0" i="0" sz="1691" u="none" cap="none" strike="noStrike">
              <a:solidFill>
                <a:srgbClr val="000000"/>
              </a:solidFill>
              <a:latin typeface="Arial"/>
              <a:ea typeface="Arial"/>
              <a:cs typeface="Arial"/>
              <a:sym typeface="Arial"/>
            </a:endParaRPr>
          </a:p>
        </p:txBody>
      </p:sp>
      <p:pic>
        <p:nvPicPr>
          <p:cNvPr id="308" name="Google Shape;308;g3f85bb41658_0_20" title="image 15448.png"/>
          <p:cNvPicPr preferRelativeResize="0"/>
          <p:nvPr/>
        </p:nvPicPr>
        <p:blipFill>
          <a:blip r:embed="rId4">
            <a:alphaModFix/>
          </a:blip>
          <a:stretch>
            <a:fillRect/>
          </a:stretch>
        </p:blipFill>
        <p:spPr>
          <a:xfrm>
            <a:off x="6193314" y="2535139"/>
            <a:ext cx="4435012" cy="33262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313" name="Shape 313"/>
        <p:cNvGrpSpPr/>
        <p:nvPr/>
      </p:nvGrpSpPr>
      <p:grpSpPr>
        <a:xfrm>
          <a:off x="0" y="0"/>
          <a:ext cx="0" cy="0"/>
          <a:chOff x="0" y="0"/>
          <a:chExt cx="0" cy="0"/>
        </a:xfrm>
      </p:grpSpPr>
      <p:sp>
        <p:nvSpPr>
          <p:cNvPr id="314" name="Google Shape;314;g3f85bb41658_0_44"/>
          <p:cNvSpPr/>
          <p:nvPr/>
        </p:nvSpPr>
        <p:spPr>
          <a:xfrm>
            <a:off x="640080" y="457200"/>
            <a:ext cx="731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1200"/>
              <a:buFont typeface="Calibri"/>
              <a:buNone/>
            </a:pPr>
            <a:r>
              <a:rPr b="1" lang="en-US" sz="1200">
                <a:solidFill>
                  <a:srgbClr val="F26522"/>
                </a:solidFill>
                <a:latin typeface="Calibri"/>
                <a:ea typeface="Calibri"/>
                <a:cs typeface="Calibri"/>
                <a:sym typeface="Calibri"/>
              </a:rPr>
              <a:t>11.3 · IMPACTO </a:t>
            </a:r>
            <a:endParaRPr b="0" i="0" sz="1200" u="none" cap="none" strike="noStrike">
              <a:solidFill>
                <a:schemeClr val="dk1"/>
              </a:solidFill>
              <a:latin typeface="Calibri"/>
              <a:ea typeface="Calibri"/>
              <a:cs typeface="Calibri"/>
              <a:sym typeface="Calibri"/>
            </a:endParaRPr>
          </a:p>
        </p:txBody>
      </p:sp>
      <p:sp>
        <p:nvSpPr>
          <p:cNvPr id="315" name="Google Shape;315;g3f85bb41658_0_44"/>
          <p:cNvSpPr/>
          <p:nvPr/>
        </p:nvSpPr>
        <p:spPr>
          <a:xfrm>
            <a:off x="640080" y="777240"/>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313D"/>
              </a:buClr>
              <a:buSzPts val="3200"/>
              <a:buFont typeface="Cambria"/>
              <a:buNone/>
            </a:pPr>
            <a:r>
              <a:rPr b="1" lang="en-US" sz="3200">
                <a:solidFill>
                  <a:srgbClr val="2E313D"/>
                </a:solidFill>
                <a:latin typeface="Cambria"/>
                <a:ea typeface="Cambria"/>
                <a:cs typeface="Cambria"/>
                <a:sym typeface="Cambria"/>
              </a:rPr>
              <a:t>El Resultado del Ajuste </a:t>
            </a:r>
            <a:endParaRPr b="0" i="0" sz="3200" u="none" cap="none" strike="noStrike">
              <a:solidFill>
                <a:schemeClr val="dk1"/>
              </a:solidFill>
              <a:latin typeface="Calibri"/>
              <a:ea typeface="Calibri"/>
              <a:cs typeface="Calibri"/>
              <a:sym typeface="Calibri"/>
            </a:endParaRPr>
          </a:p>
        </p:txBody>
      </p:sp>
      <p:sp>
        <p:nvSpPr>
          <p:cNvPr id="316" name="Google Shape;316;g3f85bb41658_0_44"/>
          <p:cNvSpPr/>
          <p:nvPr/>
        </p:nvSpPr>
        <p:spPr>
          <a:xfrm>
            <a:off x="64008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f85bb41658_0_44"/>
          <p:cNvSpPr/>
          <p:nvPr/>
        </p:nvSpPr>
        <p:spPr>
          <a:xfrm>
            <a:off x="914400" y="1874520"/>
            <a:ext cx="2880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4000"/>
              <a:buFont typeface="Cambria"/>
              <a:buNone/>
            </a:pPr>
            <a:r>
              <a:rPr b="1" lang="en-US" sz="4000">
                <a:solidFill>
                  <a:srgbClr val="F26522"/>
                </a:solidFill>
                <a:latin typeface="Cambria"/>
                <a:ea typeface="Cambria"/>
                <a:cs typeface="Cambria"/>
                <a:sym typeface="Cambria"/>
              </a:rPr>
              <a:t>R$2,28M </a:t>
            </a:r>
            <a:endParaRPr b="0" i="0" sz="4000" u="none" cap="none" strike="noStrike">
              <a:solidFill>
                <a:schemeClr val="dk1"/>
              </a:solidFill>
              <a:latin typeface="Calibri"/>
              <a:ea typeface="Calibri"/>
              <a:cs typeface="Calibri"/>
              <a:sym typeface="Calibri"/>
            </a:endParaRPr>
          </a:p>
        </p:txBody>
      </p:sp>
      <p:sp>
        <p:nvSpPr>
          <p:cNvPr id="318" name="Google Shape;318;g3f85bb41658_0_44"/>
          <p:cNvSpPr/>
          <p:nvPr/>
        </p:nvSpPr>
        <p:spPr>
          <a:xfrm>
            <a:off x="914400" y="2834640"/>
            <a:ext cx="2880300" cy="14631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lang="en-US" sz="1200">
                <a:solidFill>
                  <a:srgbClr val="2E313D"/>
                </a:solidFill>
                <a:latin typeface="Calibri"/>
                <a:ea typeface="Calibri"/>
                <a:cs typeface="Calibri"/>
                <a:sym typeface="Calibri"/>
              </a:rPr>
              <a:t>de ingresos adicionales estimados por mes, sobre una base de ~3,5M suscriptores </a:t>
            </a:r>
            <a:endParaRPr b="0" i="0" sz="1200" u="none" cap="none" strike="noStrike">
              <a:solidFill>
                <a:schemeClr val="dk1"/>
              </a:solidFill>
              <a:latin typeface="Calibri"/>
              <a:ea typeface="Calibri"/>
              <a:cs typeface="Calibri"/>
              <a:sym typeface="Calibri"/>
            </a:endParaRPr>
          </a:p>
        </p:txBody>
      </p:sp>
      <p:sp>
        <p:nvSpPr>
          <p:cNvPr id="319" name="Google Shape;319;g3f85bb41658_0_44"/>
          <p:cNvSpPr/>
          <p:nvPr/>
        </p:nvSpPr>
        <p:spPr>
          <a:xfrm>
            <a:off x="434340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3f85bb41658_0_44"/>
          <p:cNvSpPr/>
          <p:nvPr/>
        </p:nvSpPr>
        <p:spPr>
          <a:xfrm>
            <a:off x="4617720" y="1874520"/>
            <a:ext cx="2880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4000"/>
              <a:buFont typeface="Cambria"/>
              <a:buNone/>
            </a:pPr>
            <a:r>
              <a:rPr b="1" lang="en-US" sz="4000">
                <a:solidFill>
                  <a:srgbClr val="F26522"/>
                </a:solidFill>
                <a:latin typeface="Cambria"/>
                <a:ea typeface="Cambria"/>
                <a:cs typeface="Cambria"/>
                <a:sym typeface="Cambria"/>
              </a:rPr>
              <a:t>R$27,3M </a:t>
            </a:r>
            <a:endParaRPr b="0" i="0" sz="4000" u="none" cap="none" strike="noStrike">
              <a:solidFill>
                <a:schemeClr val="dk1"/>
              </a:solidFill>
              <a:latin typeface="Calibri"/>
              <a:ea typeface="Calibri"/>
              <a:cs typeface="Calibri"/>
              <a:sym typeface="Calibri"/>
            </a:endParaRPr>
          </a:p>
        </p:txBody>
      </p:sp>
      <p:sp>
        <p:nvSpPr>
          <p:cNvPr id="321" name="Google Shape;321;g3f85bb41658_0_44"/>
          <p:cNvSpPr/>
          <p:nvPr/>
        </p:nvSpPr>
        <p:spPr>
          <a:xfrm>
            <a:off x="4617720" y="2834640"/>
            <a:ext cx="2880300" cy="14631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lang="en-US" sz="1200">
                <a:solidFill>
                  <a:srgbClr val="2E313D"/>
                </a:solidFill>
                <a:latin typeface="Calibri"/>
                <a:ea typeface="Calibri"/>
                <a:cs typeface="Calibri"/>
                <a:sym typeface="Calibri"/>
              </a:rPr>
              <a:t>de ingresos adicionales estimados por año, manteniendo la misma base de suscriptores </a:t>
            </a:r>
            <a:endParaRPr b="0" i="0" sz="1200" u="none" cap="none" strike="noStrike">
              <a:solidFill>
                <a:schemeClr val="dk1"/>
              </a:solidFill>
              <a:latin typeface="Calibri"/>
              <a:ea typeface="Calibri"/>
              <a:cs typeface="Calibri"/>
              <a:sym typeface="Calibri"/>
            </a:endParaRPr>
          </a:p>
        </p:txBody>
      </p:sp>
      <p:sp>
        <p:nvSpPr>
          <p:cNvPr id="322" name="Google Shape;322;g3f85bb41658_0_44"/>
          <p:cNvSpPr/>
          <p:nvPr/>
        </p:nvSpPr>
        <p:spPr>
          <a:xfrm>
            <a:off x="8046720" y="1645920"/>
            <a:ext cx="3429000" cy="2743200"/>
          </a:xfrm>
          <a:prstGeom prst="roundRect">
            <a:avLst>
              <a:gd fmla="val 2333" name="adj"/>
            </a:avLst>
          </a:prstGeom>
          <a:solidFill>
            <a:srgbClr val="FFFFFF"/>
          </a:solidFill>
          <a:ln cap="flat" cmpd="sng" w="12700">
            <a:solidFill>
              <a:srgbClr val="DEDCD5"/>
            </a:solidFill>
            <a:prstDash val="solid"/>
            <a:round/>
            <a:headEnd len="sm" w="sm" type="none"/>
            <a:tailEnd len="sm" w="sm" type="none"/>
          </a:ln>
          <a:effectLst>
            <a:outerShdw blurRad="101600" rotWithShape="0" algn="bl" dir="5400000" dist="25400">
              <a:srgbClr val="000000">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f85bb41658_0_44"/>
          <p:cNvSpPr/>
          <p:nvPr/>
        </p:nvSpPr>
        <p:spPr>
          <a:xfrm>
            <a:off x="8321040" y="1874520"/>
            <a:ext cx="2880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6522"/>
              </a:buClr>
              <a:buSzPts val="4000"/>
              <a:buFont typeface="Cambria"/>
              <a:buNone/>
            </a:pPr>
            <a:r>
              <a:rPr b="1" lang="en-US" sz="4000">
                <a:solidFill>
                  <a:srgbClr val="F26522"/>
                </a:solidFill>
                <a:latin typeface="Cambria"/>
                <a:ea typeface="Cambria"/>
                <a:cs typeface="Cambria"/>
                <a:sym typeface="Cambria"/>
              </a:rPr>
              <a:t>3</a:t>
            </a:r>
            <a:endParaRPr b="0" i="0" sz="4000" u="none" cap="none" strike="noStrike">
              <a:solidFill>
                <a:schemeClr val="dk1"/>
              </a:solidFill>
              <a:latin typeface="Calibri"/>
              <a:ea typeface="Calibri"/>
              <a:cs typeface="Calibri"/>
              <a:sym typeface="Calibri"/>
            </a:endParaRPr>
          </a:p>
        </p:txBody>
      </p:sp>
      <p:sp>
        <p:nvSpPr>
          <p:cNvPr id="324" name="Google Shape;324;g3f85bb41658_0_44"/>
          <p:cNvSpPr/>
          <p:nvPr/>
        </p:nvSpPr>
        <p:spPr>
          <a:xfrm>
            <a:off x="8321040" y="2834640"/>
            <a:ext cx="2880300" cy="14631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E313D"/>
              </a:buClr>
              <a:buSzPts val="1200"/>
              <a:buFont typeface="Calibri"/>
              <a:buNone/>
            </a:pPr>
            <a:r>
              <a:rPr lang="en-US" sz="1200">
                <a:solidFill>
                  <a:srgbClr val="2E313D"/>
                </a:solidFill>
                <a:latin typeface="Calibri"/>
                <a:ea typeface="Calibri"/>
                <a:cs typeface="Calibri"/>
                <a:sym typeface="Calibri"/>
              </a:rPr>
              <a:t>métricas usadas para validar la seguridad del cambio: cancelación, adquisición y motivo declarado </a:t>
            </a:r>
            <a:endParaRPr b="0" i="0" sz="1200" u="none" cap="none" strike="noStrike">
              <a:solidFill>
                <a:schemeClr val="dk1"/>
              </a:solidFill>
              <a:latin typeface="Calibri"/>
              <a:ea typeface="Calibri"/>
              <a:cs typeface="Calibri"/>
              <a:sym typeface="Calibri"/>
            </a:endParaRPr>
          </a:p>
        </p:txBody>
      </p:sp>
      <p:sp>
        <p:nvSpPr>
          <p:cNvPr id="325" name="Google Shape;325;g3f85bb41658_0_44"/>
          <p:cNvSpPr/>
          <p:nvPr/>
        </p:nvSpPr>
        <p:spPr>
          <a:xfrm>
            <a:off x="640080" y="4709160"/>
            <a:ext cx="10881300" cy="868800"/>
          </a:xfrm>
          <a:prstGeom prst="roundRect">
            <a:avLst>
              <a:gd fmla="val 6316" name="adj"/>
            </a:avLst>
          </a:prstGeom>
          <a:solidFill>
            <a:srgbClr val="EFEEEA"/>
          </a:solidFill>
          <a:ln cap="flat" cmpd="sng" w="12700">
            <a:solidFill>
              <a:srgbClr val="DEDC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f85bb41658_0_44"/>
          <p:cNvSpPr/>
          <p:nvPr/>
        </p:nvSpPr>
        <p:spPr>
          <a:xfrm>
            <a:off x="914400" y="4709160"/>
            <a:ext cx="10332600" cy="8688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70737E"/>
              </a:buClr>
              <a:buSzPts val="1150"/>
              <a:buFont typeface="Calibri"/>
              <a:buNone/>
            </a:pPr>
            <a:r>
              <a:rPr i="1" lang="en-US" sz="1150">
                <a:solidFill>
                  <a:srgbClr val="70737E"/>
                </a:solidFill>
                <a:latin typeface="Calibri"/>
                <a:ea typeface="Calibri"/>
                <a:cs typeface="Calibri"/>
                <a:sym typeface="Calibri"/>
              </a:rPr>
              <a:t>Estimación ilustrativa a partir de la base de suscriptores relatada por mí y de los precios mostrados en la captura de la plataforma. La validación del cambio se hizo mediante seguimiento de tasa de cancelación, tasa de adquisición y motivo declarado de cancelación, no por instrumentación de ingresos en tiempo real. </a:t>
            </a:r>
            <a:endParaRPr b="0" i="0" sz="1150" u="none" cap="none" strike="noStrike">
              <a:solidFill>
                <a:schemeClr val="dk1"/>
              </a:solidFill>
              <a:latin typeface="Calibri"/>
              <a:ea typeface="Calibri"/>
              <a:cs typeface="Calibri"/>
              <a:sym typeface="Calibri"/>
            </a:endParaRPr>
          </a:p>
        </p:txBody>
      </p:sp>
      <p:sp>
        <p:nvSpPr>
          <p:cNvPr id="327" name="Google Shape;327;g3f85bb41658_0_44"/>
          <p:cNvSpPr/>
          <p:nvPr/>
        </p:nvSpPr>
        <p:spPr>
          <a:xfrm>
            <a:off x="11247120" y="6473952"/>
            <a:ext cx="8229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0737E"/>
              </a:buClr>
              <a:buSzPts val="900"/>
              <a:buFont typeface="Calibri"/>
              <a:buNone/>
            </a:pPr>
            <a:r>
              <a:rPr b="0" i="0" lang="en-US" sz="900" u="none" cap="none" strike="noStrike">
                <a:solidFill>
                  <a:srgbClr val="70737E"/>
                </a:solidFill>
                <a:latin typeface="Calibri"/>
                <a:ea typeface="Calibri"/>
                <a:cs typeface="Calibri"/>
                <a:sym typeface="Calibri"/>
              </a:rPr>
              <a:t>10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1B2F"/>
        </a:solidFill>
      </p:bgPr>
    </p:bg>
    <p:spTree>
      <p:nvGrpSpPr>
        <p:cNvPr id="332" name="Shape 332"/>
        <p:cNvGrpSpPr/>
        <p:nvPr/>
      </p:nvGrpSpPr>
      <p:grpSpPr>
        <a:xfrm>
          <a:off x="0" y="0"/>
          <a:ext cx="0" cy="0"/>
          <a:chOff x="0" y="0"/>
          <a:chExt cx="0" cy="0"/>
        </a:xfrm>
      </p:grpSpPr>
      <p:sp>
        <p:nvSpPr>
          <p:cNvPr id="333" name="Google Shape;333;g3f85b79a255_3_5"/>
          <p:cNvSpPr/>
          <p:nvPr/>
        </p:nvSpPr>
        <p:spPr>
          <a:xfrm>
            <a:off x="3557950" y="3108900"/>
            <a:ext cx="47979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Cambria"/>
              <a:buNone/>
            </a:pPr>
            <a:r>
              <a:rPr b="0" i="0" lang="en-US" sz="7200" u="none" cap="none" strike="noStrike">
                <a:solidFill>
                  <a:schemeClr val="accent2"/>
                </a:solidFill>
                <a:latin typeface="Cambria"/>
                <a:ea typeface="Cambria"/>
                <a:cs typeface="Cambria"/>
                <a:sym typeface="Cambria"/>
              </a:rPr>
              <a:t>Gracias</a:t>
            </a:r>
            <a:endParaRPr b="0" i="0" sz="7200" u="none" cap="none" strike="noStrike">
              <a:solidFill>
                <a:schemeClr val="accent2"/>
              </a:solidFill>
              <a:latin typeface="Cambria"/>
              <a:ea typeface="Cambria"/>
              <a:cs typeface="Cambria"/>
              <a:sym typeface="Cambria"/>
            </a:endParaRPr>
          </a:p>
        </p:txBody>
      </p:sp>
      <p:sp>
        <p:nvSpPr>
          <p:cNvPr id="334" name="Google Shape;334;g3f85b79a255_3_5"/>
          <p:cNvSpPr/>
          <p:nvPr/>
        </p:nvSpPr>
        <p:spPr>
          <a:xfrm>
            <a:off x="4206240" y="3886200"/>
            <a:ext cx="2377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B2F"/>
              </a:buClr>
              <a:buSzPts val="1000"/>
              <a:buFont typeface="Calibri"/>
              <a:buNone/>
            </a:pPr>
            <a:r>
              <a:rPr b="1" i="0" lang="en-US" sz="1000" u="none" cap="none" strike="noStrike">
                <a:solidFill>
                  <a:srgbClr val="1B1B2F"/>
                </a:solidFill>
                <a:latin typeface="Calibri"/>
                <a:ea typeface="Calibri"/>
                <a:cs typeface="Calibri"/>
                <a:sym typeface="Calibri"/>
              </a:rPr>
              <a:t>DESPUÉS</a:t>
            </a:r>
            <a:endParaRPr b="0" i="0" sz="1000" u="none" cap="none" strike="noStrike">
              <a:solidFill>
                <a:schemeClr val="dk1"/>
              </a:solidFill>
              <a:latin typeface="Calibri"/>
              <a:ea typeface="Calibri"/>
              <a:cs typeface="Calibri"/>
              <a:sym typeface="Calibri"/>
            </a:endParaRPr>
          </a:p>
        </p:txBody>
      </p:sp>
      <p:sp>
        <p:nvSpPr>
          <p:cNvPr id="335" name="Google Shape;335;g3f85b79a255_3_5"/>
          <p:cNvSpPr/>
          <p:nvPr/>
        </p:nvSpPr>
        <p:spPr>
          <a:xfrm>
            <a:off x="11247120" y="6473952"/>
            <a:ext cx="8229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9ABC0"/>
              </a:buClr>
              <a:buSzPts val="900"/>
              <a:buFont typeface="Calibri"/>
              <a:buNone/>
            </a:pPr>
            <a:r>
              <a:rPr b="0" i="0" lang="en-US" sz="900" u="none" cap="none" strike="noStrike">
                <a:solidFill>
                  <a:srgbClr val="A9ABC0"/>
                </a:solidFill>
                <a:latin typeface="Calibri"/>
                <a:ea typeface="Calibri"/>
                <a:cs typeface="Calibri"/>
                <a:sym typeface="Calibri"/>
              </a:rPr>
              <a:t>11 / 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2026-08-19T14:30:45Z</dcterms:created>
  <dc:creator>PptxGenJS</dc:creator>
</cp:coreProperties>
</file>